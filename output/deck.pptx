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bszl22.github.io/athena-outbound/" TargetMode="External"/><Relationship Id="rId2" Type="http://schemas.openxmlformats.org/officeDocument/2006/relationships/hyperlink" Target="https://docs.google.com/presentation/d/1grMQLCtlleTGF5JiLakV5w9gvDni4Es23rBoZ2cl-kU/edit?usp=sharing" TargetMode="External"/><Relationship Id="rId3" Type="http://schemas.openxmlformats.org/officeDocument/2006/relationships/hyperlink" Target="https://github.com/bszl22/athena-outbound/blob/main/deck.pdf" TargetMode="External"/><Relationship Id="rId4" Type="http://schemas.openxmlformats.org/officeDocument/2006/relationships/hyperlink" Target="https://github.com/bszl22/athena-outbound" TargetMode="External"/><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bszl22.github.io/athena-outbound/"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Who Athena should email, what each email says, and why</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1</a:t>
            </a:r>
            <a:endParaRPr lang="en-US" sz="900" dirty="0"/>
          </a:p>
        </p:txBody>
      </p:sp>
      <p:sp>
        <p:nvSpPr>
          <p:cNvPr id="6" name="Text 4"/>
          <p:cNvSpPr/>
          <p:nvPr/>
        </p:nvSpPr>
        <p:spPr>
          <a:xfrm>
            <a:off x="548640" y="1371600"/>
            <a:ext cx="11094415" cy="731520"/>
          </a:xfrm>
          <a:prstGeom prst="rect">
            <a:avLst/>
          </a:prstGeom>
          <a:noFill/>
          <a:ln/>
        </p:spPr>
        <p:txBody>
          <a:bodyPr wrap="square" lIns="0" tIns="0" rIns="0" bIns="0" rtlCol="0" anchor="t"/>
          <a:lstStyle/>
          <a:p>
            <a:pPr indent="0" marL="0">
              <a:spcAft>
                <a:spcPts val="600"/>
              </a:spcAft>
              <a:buNone/>
            </a:pPr>
            <a:r>
              <a:rPr lang="en-US" sz="1700" dirty="0">
                <a:solidFill>
                  <a:srgbClr val="403D3D"/>
                </a:solidFill>
                <a:latin typeface="Geist" pitchFamily="34" charset="0"/>
                <a:ea typeface="Geist" pitchFamily="34" charset="-122"/>
                <a:cs typeface="Geist" pitchFamily="34" charset="-120"/>
              </a:rPr>
              <a:t>Every one of the 1,000 contacts gets a decision. Each email is assembled from approved snippets around the signals its contact actually has, and the same CSV always gives the same emails.</a:t>
            </a:r>
            <a:endParaRPr lang="en-US" sz="1700" dirty="0"/>
          </a:p>
        </p:txBody>
      </p:sp>
      <p:sp>
        <p:nvSpPr>
          <p:cNvPr id="7" name="Shape 5"/>
          <p:cNvSpPr/>
          <p:nvPr/>
        </p:nvSpPr>
        <p:spPr>
          <a:xfrm>
            <a:off x="548640" y="2331720"/>
            <a:ext cx="2602154" cy="1143000"/>
          </a:xfrm>
          <a:prstGeom prst="roundRect">
            <a:avLst>
              <a:gd name="adj" fmla="val 9600"/>
            </a:avLst>
          </a:prstGeom>
          <a:solidFill>
            <a:srgbClr val="FFFFFF"/>
          </a:solidFill>
          <a:ln w="12700">
            <a:solidFill>
              <a:srgbClr val="EDEDED"/>
            </a:solidFill>
            <a:prstDash val="solid"/>
          </a:ln>
        </p:spPr>
      </p:sp>
      <p:sp>
        <p:nvSpPr>
          <p:cNvPr id="8" name="Text 6"/>
          <p:cNvSpPr/>
          <p:nvPr/>
        </p:nvSpPr>
        <p:spPr>
          <a:xfrm>
            <a:off x="731520" y="2441448"/>
            <a:ext cx="2236394" cy="571500"/>
          </a:xfrm>
          <a:prstGeom prst="rect">
            <a:avLst/>
          </a:prstGeom>
          <a:noFill/>
          <a:ln/>
        </p:spPr>
        <p:txBody>
          <a:bodyPr wrap="square" lIns="0" tIns="0" rIns="0" bIns="0" rtlCol="0" anchor="ctr"/>
          <a:lstStyle/>
          <a:p>
            <a:pPr indent="0" marL="0">
              <a:buNone/>
            </a:pPr>
            <a:r>
              <a:rPr lang="en-US" sz="3400" dirty="0">
                <a:solidFill>
                  <a:srgbClr val="262525"/>
                </a:solidFill>
                <a:latin typeface="Source Serif 4" pitchFamily="34" charset="0"/>
                <a:ea typeface="Source Serif 4" pitchFamily="34" charset="-122"/>
                <a:cs typeface="Source Serif 4" pitchFamily="34" charset="-120"/>
              </a:rPr>
              <a:t>416</a:t>
            </a:r>
            <a:endParaRPr lang="en-US" sz="3400" dirty="0"/>
          </a:p>
        </p:txBody>
      </p:sp>
      <p:sp>
        <p:nvSpPr>
          <p:cNvPr id="9" name="Text 7"/>
          <p:cNvSpPr/>
          <p:nvPr/>
        </p:nvSpPr>
        <p:spPr>
          <a:xfrm>
            <a:off x="731520" y="3040380"/>
            <a:ext cx="2236394" cy="377190"/>
          </a:xfrm>
          <a:prstGeom prst="rect">
            <a:avLst/>
          </a:prstGeom>
          <a:noFill/>
          <a:ln/>
        </p:spPr>
        <p:txBody>
          <a:bodyPr wrap="square" lIns="0" tIns="0" rIns="0" bIns="0" rtlCol="0" anchor="t"/>
          <a:lstStyle/>
          <a:p>
            <a:pPr indent="0" marL="0">
              <a:spcAft>
                <a:spcPts val="600"/>
              </a:spcAft>
              <a:buNone/>
            </a:pPr>
            <a:r>
              <a:rPr lang="en-US" sz="1100" dirty="0">
                <a:solidFill>
                  <a:srgbClr val="7B7574"/>
                </a:solidFill>
                <a:latin typeface="Geist" pitchFamily="34" charset="0"/>
                <a:ea typeface="Geist" pitchFamily="34" charset="-122"/>
                <a:cs typeface="Geist" pitchFamily="34" charset="-120"/>
              </a:rPr>
              <a:t>Contacts emailed, each with a 3-step sequence</a:t>
            </a:r>
            <a:endParaRPr lang="en-US" sz="1100" dirty="0"/>
          </a:p>
        </p:txBody>
      </p:sp>
      <p:sp>
        <p:nvSpPr>
          <p:cNvPr id="10" name="Shape 8"/>
          <p:cNvSpPr/>
          <p:nvPr/>
        </p:nvSpPr>
        <p:spPr>
          <a:xfrm>
            <a:off x="3379394" y="2331720"/>
            <a:ext cx="2602154" cy="1143000"/>
          </a:xfrm>
          <a:prstGeom prst="roundRect">
            <a:avLst>
              <a:gd name="adj" fmla="val 9600"/>
            </a:avLst>
          </a:prstGeom>
          <a:solidFill>
            <a:srgbClr val="FFFFFF"/>
          </a:solidFill>
          <a:ln w="12700">
            <a:solidFill>
              <a:srgbClr val="EDEDED"/>
            </a:solidFill>
            <a:prstDash val="solid"/>
          </a:ln>
        </p:spPr>
      </p:sp>
      <p:sp>
        <p:nvSpPr>
          <p:cNvPr id="11" name="Text 9"/>
          <p:cNvSpPr/>
          <p:nvPr/>
        </p:nvSpPr>
        <p:spPr>
          <a:xfrm>
            <a:off x="3562274" y="2441448"/>
            <a:ext cx="2236394" cy="571500"/>
          </a:xfrm>
          <a:prstGeom prst="rect">
            <a:avLst/>
          </a:prstGeom>
          <a:noFill/>
          <a:ln/>
        </p:spPr>
        <p:txBody>
          <a:bodyPr wrap="square" lIns="0" tIns="0" rIns="0" bIns="0" rtlCol="0" anchor="ctr"/>
          <a:lstStyle/>
          <a:p>
            <a:pPr indent="0" marL="0">
              <a:buNone/>
            </a:pPr>
            <a:r>
              <a:rPr lang="en-US" sz="3400" dirty="0">
                <a:solidFill>
                  <a:srgbClr val="262525"/>
                </a:solidFill>
                <a:latin typeface="Source Serif 4" pitchFamily="34" charset="0"/>
                <a:ea typeface="Source Serif 4" pitchFamily="34" charset="-122"/>
                <a:cs typeface="Source Serif 4" pitchFamily="34" charset="-120"/>
              </a:rPr>
              <a:t>584</a:t>
            </a:r>
            <a:endParaRPr lang="en-US" sz="3400" dirty="0"/>
          </a:p>
        </p:txBody>
      </p:sp>
      <p:sp>
        <p:nvSpPr>
          <p:cNvPr id="12" name="Text 10"/>
          <p:cNvSpPr/>
          <p:nvPr/>
        </p:nvSpPr>
        <p:spPr>
          <a:xfrm>
            <a:off x="3562274" y="3040380"/>
            <a:ext cx="2236394" cy="377190"/>
          </a:xfrm>
          <a:prstGeom prst="rect">
            <a:avLst/>
          </a:prstGeom>
          <a:noFill/>
          <a:ln/>
        </p:spPr>
        <p:txBody>
          <a:bodyPr wrap="square" lIns="0" tIns="0" rIns="0" bIns="0" rtlCol="0" anchor="t"/>
          <a:lstStyle/>
          <a:p>
            <a:pPr indent="0" marL="0">
              <a:spcAft>
                <a:spcPts val="600"/>
              </a:spcAft>
              <a:buNone/>
            </a:pPr>
            <a:r>
              <a:rPr lang="en-US" sz="1100" dirty="0">
                <a:solidFill>
                  <a:srgbClr val="7B7574"/>
                </a:solidFill>
                <a:latin typeface="Geist" pitchFamily="34" charset="0"/>
                <a:ea typeface="Geist" pitchFamily="34" charset="-122"/>
                <a:cs typeface="Geist" pitchFamily="34" charset="-120"/>
              </a:rPr>
              <a:t>Suppressed, each with its reason</a:t>
            </a:r>
            <a:endParaRPr lang="en-US" sz="1100" dirty="0"/>
          </a:p>
        </p:txBody>
      </p:sp>
      <p:sp>
        <p:nvSpPr>
          <p:cNvPr id="13" name="Shape 11"/>
          <p:cNvSpPr/>
          <p:nvPr/>
        </p:nvSpPr>
        <p:spPr>
          <a:xfrm>
            <a:off x="6210148" y="2331720"/>
            <a:ext cx="2602154" cy="1143000"/>
          </a:xfrm>
          <a:prstGeom prst="roundRect">
            <a:avLst>
              <a:gd name="adj" fmla="val 9600"/>
            </a:avLst>
          </a:prstGeom>
          <a:solidFill>
            <a:srgbClr val="FFFFFF"/>
          </a:solidFill>
          <a:ln w="12700">
            <a:solidFill>
              <a:srgbClr val="EDEDED"/>
            </a:solidFill>
            <a:prstDash val="solid"/>
          </a:ln>
        </p:spPr>
      </p:sp>
      <p:sp>
        <p:nvSpPr>
          <p:cNvPr id="14" name="Text 12"/>
          <p:cNvSpPr/>
          <p:nvPr/>
        </p:nvSpPr>
        <p:spPr>
          <a:xfrm>
            <a:off x="6393028" y="2441448"/>
            <a:ext cx="2236394" cy="571500"/>
          </a:xfrm>
          <a:prstGeom prst="rect">
            <a:avLst/>
          </a:prstGeom>
          <a:noFill/>
          <a:ln/>
        </p:spPr>
        <p:txBody>
          <a:bodyPr wrap="square" lIns="0" tIns="0" rIns="0" bIns="0" rtlCol="0" anchor="ctr"/>
          <a:lstStyle/>
          <a:p>
            <a:pPr indent="0" marL="0">
              <a:buNone/>
            </a:pPr>
            <a:r>
              <a:rPr lang="en-US" sz="3400" dirty="0">
                <a:solidFill>
                  <a:srgbClr val="262525"/>
                </a:solidFill>
                <a:latin typeface="Source Serif 4" pitchFamily="34" charset="0"/>
                <a:ea typeface="Source Serif 4" pitchFamily="34" charset="-122"/>
                <a:cs typeface="Source Serif 4" pitchFamily="34" charset="-120"/>
              </a:rPr>
              <a:t>4</a:t>
            </a:r>
            <a:endParaRPr lang="en-US" sz="3400" dirty="0"/>
          </a:p>
        </p:txBody>
      </p:sp>
      <p:sp>
        <p:nvSpPr>
          <p:cNvPr id="15" name="Text 13"/>
          <p:cNvSpPr/>
          <p:nvPr/>
        </p:nvSpPr>
        <p:spPr>
          <a:xfrm>
            <a:off x="6393028" y="3040380"/>
            <a:ext cx="2236394" cy="377190"/>
          </a:xfrm>
          <a:prstGeom prst="rect">
            <a:avLst/>
          </a:prstGeom>
          <a:noFill/>
          <a:ln/>
        </p:spPr>
        <p:txBody>
          <a:bodyPr wrap="square" lIns="0" tIns="0" rIns="0" bIns="0" rtlCol="0" anchor="t"/>
          <a:lstStyle/>
          <a:p>
            <a:pPr indent="0" marL="0">
              <a:spcAft>
                <a:spcPts val="600"/>
              </a:spcAft>
              <a:buNone/>
            </a:pPr>
            <a:r>
              <a:rPr lang="en-US" sz="1100" dirty="0">
                <a:solidFill>
                  <a:srgbClr val="7B7574"/>
                </a:solidFill>
                <a:latin typeface="Geist" pitchFamily="34" charset="0"/>
                <a:ea typeface="Geist" pitchFamily="34" charset="-122"/>
                <a:cs typeface="Geist" pitchFamily="34" charset="-120"/>
              </a:rPr>
              <a:t>Campaigns, chosen by the company’s trigger</a:t>
            </a:r>
            <a:endParaRPr lang="en-US" sz="1100" dirty="0"/>
          </a:p>
        </p:txBody>
      </p:sp>
      <p:sp>
        <p:nvSpPr>
          <p:cNvPr id="16" name="Shape 14"/>
          <p:cNvSpPr/>
          <p:nvPr/>
        </p:nvSpPr>
        <p:spPr>
          <a:xfrm>
            <a:off x="9040901" y="2331720"/>
            <a:ext cx="2602154" cy="1143000"/>
          </a:xfrm>
          <a:prstGeom prst="roundRect">
            <a:avLst>
              <a:gd name="adj" fmla="val 9600"/>
            </a:avLst>
          </a:prstGeom>
          <a:solidFill>
            <a:srgbClr val="FFFFFF"/>
          </a:solidFill>
          <a:ln w="12700">
            <a:solidFill>
              <a:srgbClr val="EDEDED"/>
            </a:solidFill>
            <a:prstDash val="solid"/>
          </a:ln>
        </p:spPr>
      </p:sp>
      <p:sp>
        <p:nvSpPr>
          <p:cNvPr id="17" name="Text 15"/>
          <p:cNvSpPr/>
          <p:nvPr/>
        </p:nvSpPr>
        <p:spPr>
          <a:xfrm>
            <a:off x="9223781" y="2441448"/>
            <a:ext cx="2236394" cy="571500"/>
          </a:xfrm>
          <a:prstGeom prst="rect">
            <a:avLst/>
          </a:prstGeom>
          <a:noFill/>
          <a:ln/>
        </p:spPr>
        <p:txBody>
          <a:bodyPr wrap="square" lIns="0" tIns="0" rIns="0" bIns="0" rtlCol="0" anchor="ctr"/>
          <a:lstStyle/>
          <a:p>
            <a:pPr indent="0" marL="0">
              <a:buNone/>
            </a:pPr>
            <a:r>
              <a:rPr lang="en-US" sz="3400" dirty="0">
                <a:solidFill>
                  <a:srgbClr val="262525"/>
                </a:solidFill>
                <a:latin typeface="Source Serif 4" pitchFamily="34" charset="0"/>
                <a:ea typeface="Source Serif 4" pitchFamily="34" charset="-122"/>
                <a:cs typeface="Source Serif 4" pitchFamily="34" charset="-120"/>
              </a:rPr>
              <a:t>0</a:t>
            </a:r>
            <a:endParaRPr lang="en-US" sz="3400" dirty="0"/>
          </a:p>
        </p:txBody>
      </p:sp>
      <p:sp>
        <p:nvSpPr>
          <p:cNvPr id="18" name="Text 16"/>
          <p:cNvSpPr/>
          <p:nvPr/>
        </p:nvSpPr>
        <p:spPr>
          <a:xfrm>
            <a:off x="9223781" y="3040380"/>
            <a:ext cx="2236394" cy="377190"/>
          </a:xfrm>
          <a:prstGeom prst="rect">
            <a:avLst/>
          </a:prstGeom>
          <a:noFill/>
          <a:ln/>
        </p:spPr>
        <p:txBody>
          <a:bodyPr wrap="square" lIns="0" tIns="0" rIns="0" bIns="0" rtlCol="0" anchor="t"/>
          <a:lstStyle/>
          <a:p>
            <a:pPr indent="0" marL="0">
              <a:spcAft>
                <a:spcPts val="600"/>
              </a:spcAft>
              <a:buNone/>
            </a:pPr>
            <a:r>
              <a:rPr lang="en-US" sz="1100" dirty="0">
                <a:solidFill>
                  <a:srgbClr val="7B7574"/>
                </a:solidFill>
                <a:latin typeface="Geist" pitchFamily="34" charset="0"/>
                <a:ea typeface="Geist" pitchFamily="34" charset="-122"/>
                <a:cs typeface="Geist" pitchFamily="34" charset="-120"/>
              </a:rPr>
              <a:t>held by a render check</a:t>
            </a:r>
            <a:endParaRPr lang="en-US" sz="1100" dirty="0"/>
          </a:p>
        </p:txBody>
      </p:sp>
      <p:sp>
        <p:nvSpPr>
          <p:cNvPr id="19" name="Text 17"/>
          <p:cNvSpPr/>
          <p:nvPr/>
        </p:nvSpPr>
        <p:spPr>
          <a:xfrm>
            <a:off x="548640" y="3840480"/>
            <a:ext cx="11094415" cy="2194560"/>
          </a:xfrm>
          <a:prstGeom prst="rect">
            <a:avLst/>
          </a:prstGeom>
          <a:noFill/>
          <a:ln/>
        </p:spPr>
        <p:txBody>
          <a:bodyPr wrap="square" lIns="0" tIns="0" rIns="0" bIns="0" rtlCol="0" anchor="t"/>
          <a:lstStyle/>
          <a:p>
            <a:pPr indent="0" marL="0">
              <a:spcAft>
                <a:spcPts val="800"/>
              </a:spcAft>
              <a:buNone/>
            </a:pPr>
            <a:r>
              <a:rPr lang="en-US" sz="1400" b="1" dirty="0">
                <a:solidFill>
                  <a:srgbClr val="262525"/>
                </a:solidFill>
                <a:latin typeface="Geist" pitchFamily="34" charset="0"/>
                <a:ea typeface="Geist" pitchFamily="34" charset="-122"/>
                <a:cs typeface="Geist" pitchFamily="34" charset="-120"/>
              </a:rPr>
              <a:t>Video: </a:t>
            </a:r>
            <a:pPr indent="0" marL="0">
              <a:spcAft>
                <a:spcPts val="800"/>
              </a:spcAft>
              <a:buNone/>
            </a:pPr>
            <a:r>
              <a:rPr lang="en-US" sz="1400" dirty="0">
                <a:solidFill>
                  <a:srgbClr val="7B7574"/>
                </a:solidFill>
                <a:latin typeface="Geist" pitchFamily="34" charset="0"/>
                <a:ea typeface="Geist" pitchFamily="34" charset="-122"/>
                <a:cs typeface="Geist" pitchFamily="34" charset="-120"/>
              </a:rPr>
              <a:t>coming</a:t>
            </a:r>
            <a:pPr indent="0" marL="0">
              <a:spcAft>
                <a:spcPts val="800"/>
              </a:spcAft>
              <a:buNone/>
            </a:pPr>
            <a:endParaRPr lang="en-US" sz="1400" dirty="0"/>
          </a:p>
          <a:p>
            <a:pPr indent="0" marL="0">
              <a:spcAft>
                <a:spcPts val="800"/>
              </a:spcAft>
              <a:buNone/>
            </a:pPr>
            <a:r>
              <a:rPr lang="en-US" sz="1400" b="1" dirty="0">
                <a:solidFill>
                  <a:srgbClr val="262525"/>
                </a:solidFill>
                <a:latin typeface="Geist" pitchFamily="34" charset="0"/>
                <a:ea typeface="Geist" pitchFamily="34" charset="-122"/>
                <a:cs typeface="Geist" pitchFamily="34" charset="-120"/>
              </a:rPr>
              <a:t>Dashboard: </a:t>
            </a:r>
            <a:pPr indent="0" marL="0">
              <a:spcAft>
                <a:spcPts val="800"/>
              </a:spcAft>
              <a:buNone/>
            </a:pPr>
            <a:r>
              <a:rPr lang="en-US" sz="1400" u="sng" dirty="0">
                <a:solidFill>
                  <a:srgbClr val="262525"/>
                </a:solidFill>
                <a:latin typeface="Geist" pitchFamily="34" charset="0"/>
                <a:ea typeface="Geist" pitchFamily="34" charset="-122"/>
                <a:cs typeface="Geist"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https://bszl22.github.io/athena-outbound/</a:t>
            </a:r>
            <a:pPr indent="0" marL="0">
              <a:spcAft>
                <a:spcPts val="800"/>
              </a:spcAft>
              <a:buNone/>
            </a:pPr>
            <a:endParaRPr lang="en-US" sz="1400" dirty="0"/>
          </a:p>
          <a:p>
            <a:pPr indent="0" marL="0">
              <a:spcAft>
                <a:spcPts val="800"/>
              </a:spcAft>
              <a:buNone/>
            </a:pPr>
            <a:r>
              <a:rPr lang="en-US" sz="1400" b="1" dirty="0">
                <a:solidFill>
                  <a:srgbClr val="262525"/>
                </a:solidFill>
                <a:latin typeface="Geist" pitchFamily="34" charset="0"/>
                <a:ea typeface="Geist" pitchFamily="34" charset="-122"/>
                <a:cs typeface="Geist" pitchFamily="34" charset="-120"/>
              </a:rPr>
              <a:t>Deck in Google Slides: </a:t>
            </a:r>
            <a:pPr indent="0" marL="0">
              <a:spcAft>
                <a:spcPts val="800"/>
              </a:spcAft>
              <a:buNone/>
            </a:pPr>
            <a:r>
              <a:rPr lang="en-US" sz="1400" u="sng" dirty="0">
                <a:solidFill>
                  <a:srgbClr val="262525"/>
                </a:solidFill>
                <a:latin typeface="Geist" pitchFamily="34" charset="0"/>
                <a:ea typeface="Geist" pitchFamily="34" charset="-122"/>
                <a:cs typeface="Geist"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https://docs.google.com/presentation/d/1grMQLCtlleTGF5JiLakV5w9gvDni4Es23rBoZ2cl-kU/edit?usp=sharing</a:t>
            </a:r>
            <a:pPr indent="0" marL="0">
              <a:spcAft>
                <a:spcPts val="800"/>
              </a:spcAft>
              <a:buNone/>
            </a:pPr>
            <a:endParaRPr lang="en-US" sz="1400" dirty="0"/>
          </a:p>
          <a:p>
            <a:pPr indent="0" marL="0">
              <a:spcAft>
                <a:spcPts val="800"/>
              </a:spcAft>
              <a:buNone/>
            </a:pPr>
            <a:r>
              <a:rPr lang="en-US" sz="1400" b="1" dirty="0">
                <a:solidFill>
                  <a:srgbClr val="262525"/>
                </a:solidFill>
                <a:latin typeface="Geist" pitchFamily="34" charset="0"/>
                <a:ea typeface="Geist" pitchFamily="34" charset="-122"/>
                <a:cs typeface="Geist" pitchFamily="34" charset="-120"/>
              </a:rPr>
              <a:t>Deck as a PDF: </a:t>
            </a:r>
            <a:pPr indent="0" marL="0">
              <a:spcAft>
                <a:spcPts val="800"/>
              </a:spcAft>
              <a:buNone/>
            </a:pPr>
            <a:r>
              <a:rPr lang="en-US" sz="1400" u="sng" dirty="0">
                <a:solidFill>
                  <a:srgbClr val="262525"/>
                </a:solidFill>
                <a:latin typeface="Geist" pitchFamily="34" charset="0"/>
                <a:ea typeface="Geist" pitchFamily="34" charset="-122"/>
                <a:cs typeface="Geist"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https://github.com/bszl22/athena-outbound/blob/main/deck.pdf</a:t>
            </a:r>
            <a:pPr indent="0" marL="0">
              <a:spcAft>
                <a:spcPts val="800"/>
              </a:spcAft>
              <a:buNone/>
            </a:pPr>
            <a:endParaRPr lang="en-US" sz="1400" dirty="0"/>
          </a:p>
          <a:p>
            <a:pPr indent="0" marL="0">
              <a:spcAft>
                <a:spcPts val="800"/>
              </a:spcAft>
              <a:buNone/>
            </a:pPr>
            <a:r>
              <a:rPr lang="en-US" sz="1400" b="1" dirty="0">
                <a:solidFill>
                  <a:srgbClr val="262525"/>
                </a:solidFill>
                <a:latin typeface="Geist" pitchFamily="34" charset="0"/>
                <a:ea typeface="Geist" pitchFamily="34" charset="-122"/>
                <a:cs typeface="Geist" pitchFamily="34" charset="-120"/>
              </a:rPr>
              <a:t>Repo: </a:t>
            </a:r>
            <a:pPr indent="0" marL="0">
              <a:spcAft>
                <a:spcPts val="800"/>
              </a:spcAft>
              <a:buNone/>
            </a:pPr>
            <a:r>
              <a:rPr lang="en-US" sz="1400" u="sng" dirty="0">
                <a:solidFill>
                  <a:srgbClr val="262525"/>
                </a:solidFill>
                <a:latin typeface="Geist" pitchFamily="34" charset="0"/>
                <a:ea typeface="Geist" pitchFamily="34" charset="-122"/>
                <a:cs typeface="Geist"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https://github.com/bszl22/athena-outbound</a:t>
            </a:r>
            <a:pPr indent="0" marL="0">
              <a:spcAft>
                <a:spcPts val="800"/>
              </a:spcAft>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Who I don’t email comes first: 584 of 1,000</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2</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3291840"/>
        </p:xfrm>
        <a:graphic>
          <a:graphicData uri="http://schemas.openxmlformats.org/drawingml/2006/table">
            <a:tbl>
              <a:tblPr/>
              <a:tblGrid>
                <a:gridCol w="6949440"/>
                <a:gridCol w="1828800"/>
                <a:gridCol w="2313432"/>
              </a:tblGrid>
              <a:tr h="548640">
                <a:tc>
                  <a:txBody>
                    <a:bodyPr/>
                    <a:lstStyle/>
                    <a:p>
                      <a:pPr algn="l" indent="0" marL="0">
                        <a:buNone/>
                      </a:pPr>
                      <a:r>
                        <a:rPr lang="en-US" sz="1700" b="1" dirty="0">
                          <a:solidFill>
                            <a:srgbClr val="262525"/>
                          </a:solidFill>
                          <a:latin typeface="Geist" pitchFamily="34" charset="0"/>
                          <a:ea typeface="Geist" pitchFamily="34" charset="-122"/>
                          <a:cs typeface="Geist" pitchFamily="34" charset="-120"/>
                        </a:rPr>
                        <a:t>Step</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r" indent="0" marL="0">
                        <a:buNone/>
                      </a:pPr>
                      <a:r>
                        <a:rPr lang="en-US" sz="1700" b="1" dirty="0">
                          <a:solidFill>
                            <a:srgbClr val="262525"/>
                          </a:solidFill>
                          <a:latin typeface="Geist" pitchFamily="34" charset="0"/>
                          <a:ea typeface="Geist" pitchFamily="34" charset="-122"/>
                          <a:cs typeface="Geist" pitchFamily="34" charset="-120"/>
                        </a:rPr>
                        <a:t>Suppressed</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r" indent="0" marL="0">
                        <a:buNone/>
                      </a:pPr>
                      <a:r>
                        <a:rPr lang="en-US" sz="1700" b="1" dirty="0">
                          <a:solidFill>
                            <a:srgbClr val="262525"/>
                          </a:solidFill>
                          <a:latin typeface="Geist" pitchFamily="34" charset="0"/>
                          <a:ea typeface="Geist" pitchFamily="34" charset="-122"/>
                          <a:cs typeface="Geist" pitchFamily="34" charset="-120"/>
                        </a:rPr>
                        <a:t>Contacts left</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548640">
                <a:tc>
                  <a:txBody>
                    <a:bodyPr/>
                    <a:lstStyle/>
                    <a:p>
                      <a:pPr algn="l" indent="0" marL="0">
                        <a:buNone/>
                      </a:pPr>
                      <a:r>
                        <a:rPr lang="en-US" sz="1700" dirty="0">
                          <a:solidFill>
                            <a:srgbClr val="403D3D"/>
                          </a:solidFill>
                          <a:latin typeface="Geist" pitchFamily="34" charset="0"/>
                          <a:ea typeface="Geist" pitchFamily="34" charset="-122"/>
                          <a:cs typeface="Geist" pitchFamily="34" charset="-120"/>
                        </a:rPr>
                        <a:t>The contact list</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1,000</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48640">
                <a:tc>
                  <a:txBody>
                    <a:bodyPr/>
                    <a:lstStyle/>
                    <a:p>
                      <a:pPr algn="l" indent="0" marL="0">
                        <a:buNone/>
                      </a:pPr>
                      <a:r>
                        <a:rPr lang="en-US" sz="1700" dirty="0">
                          <a:solidFill>
                            <a:srgbClr val="403D3D"/>
                          </a:solidFill>
                          <a:latin typeface="Geist" pitchFamily="34" charset="0"/>
                          <a:ea typeface="Geist" pitchFamily="34" charset="-122"/>
                          <a:cs typeface="Geist" pitchFamily="34" charset="-120"/>
                        </a:rPr>
                        <a:t>No email address</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57</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943</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48640">
                <a:tc>
                  <a:txBody>
                    <a:bodyPr/>
                    <a:lstStyle/>
                    <a:p>
                      <a:pPr algn="l" indent="0" marL="0">
                        <a:buNone/>
                      </a:pPr>
                      <a:r>
                        <a:rPr lang="en-US" sz="1700" dirty="0">
                          <a:solidFill>
                            <a:srgbClr val="403D3D"/>
                          </a:solidFill>
                          <a:latin typeface="Geist" pitchFamily="34" charset="0"/>
                          <a:ea typeface="Geist" pitchFamily="34" charset="-122"/>
                          <a:cs typeface="Geist" pitchFamily="34" charset="-120"/>
                        </a:rPr>
                        <a:t>Department outside the buyer set</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490</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453</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48640">
                <a:tc>
                  <a:txBody>
                    <a:bodyPr/>
                    <a:lstStyle/>
                    <a:p>
                      <a:pPr algn="l" indent="0" marL="0">
                        <a:buNone/>
                      </a:pPr>
                      <a:r>
                        <a:rPr lang="en-US" sz="1700" dirty="0">
                          <a:solidFill>
                            <a:srgbClr val="403D3D"/>
                          </a:solidFill>
                          <a:latin typeface="Geist" pitchFamily="34" charset="0"/>
                          <a:ea typeface="Geist" pitchFamily="34" charset="-122"/>
                          <a:cs typeface="Geist" pitchFamily="34" charset="-120"/>
                        </a:rPr>
                        <a:t>Company restructuring: 90-day hold</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19</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434</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48640">
                <a:tc>
                  <a:txBody>
                    <a:bodyPr/>
                    <a:lstStyle/>
                    <a:p>
                      <a:pPr algn="l" indent="0" marL="0">
                        <a:buNone/>
                      </a:pPr>
                      <a:r>
                        <a:rPr lang="en-US" sz="1700" dirty="0">
                          <a:solidFill>
                            <a:srgbClr val="403D3D"/>
                          </a:solidFill>
                          <a:latin typeface="Geist" pitchFamily="34" charset="0"/>
                          <a:ea typeface="Geist" pitchFamily="34" charset="-122"/>
                          <a:cs typeface="Geist" pitchFamily="34" charset="-120"/>
                        </a:rPr>
                        <a:t>IC with an emailable Director+ in the same department</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18</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700" dirty="0">
                          <a:solidFill>
                            <a:srgbClr val="403D3D"/>
                          </a:solidFill>
                          <a:latin typeface="Geist" pitchFamily="34" charset="0"/>
                          <a:ea typeface="Geist" pitchFamily="34" charset="-122"/>
                          <a:cs typeface="Geist" pitchFamily="34" charset="-120"/>
                        </a:rPr>
                        <a:t>416 emailed</a:t>
                      </a:r>
                      <a:endParaRPr lang="en-US" sz="17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
        <p:nvSpPr>
          <p:cNvPr id="7" name="Text 4"/>
          <p:cNvSpPr/>
          <p:nvPr/>
        </p:nvSpPr>
        <p:spPr>
          <a:xfrm>
            <a:off x="548640" y="5120640"/>
            <a:ext cx="11094415" cy="731520"/>
          </a:xfrm>
          <a:prstGeom prst="rect">
            <a:avLst/>
          </a:prstGeom>
          <a:noFill/>
          <a:ln/>
        </p:spPr>
        <p:txBody>
          <a:bodyPr wrap="square" lIns="0" tIns="0" rIns="0" bIns="0" rtlCol="0" anchor="t"/>
          <a:lstStyle/>
          <a:p>
            <a:pPr indent="0" marL="0">
              <a:spcAft>
                <a:spcPts val="600"/>
              </a:spcAft>
              <a:buNone/>
            </a:pPr>
            <a:r>
              <a:rPr lang="en-US" sz="1400" dirty="0">
                <a:solidFill>
                  <a:srgbClr val="7B7574"/>
                </a:solidFill>
                <a:latin typeface="Geist" pitchFamily="34" charset="0"/>
                <a:ea typeface="Geist" pitchFamily="34" charset="-122"/>
                <a:cs typeface="Geist" pitchFamily="34" charset="-120"/>
              </a:rPr>
              <a:t>Suppressed always wins. Every suppressed contact keeps its reason in the rendered CSV, so nobody is dropped silently.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Five decisions per contact, first match wins</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3</a:t>
            </a:r>
            <a:endParaRPr lang="en-US" sz="900" dirty="0"/>
          </a:p>
        </p:txBody>
      </p:sp>
      <p:sp>
        <p:nvSpPr>
          <p:cNvPr id="6" name="Shape 4"/>
          <p:cNvSpPr/>
          <p:nvPr/>
        </p:nvSpPr>
        <p:spPr>
          <a:xfrm>
            <a:off x="548640" y="1371600"/>
            <a:ext cx="1999427" cy="1234440"/>
          </a:xfrm>
          <a:prstGeom prst="roundRect">
            <a:avLst>
              <a:gd name="adj" fmla="val 8889"/>
            </a:avLst>
          </a:prstGeom>
          <a:solidFill>
            <a:srgbClr val="FFFFFF"/>
          </a:solidFill>
          <a:ln w="12700">
            <a:solidFill>
              <a:srgbClr val="EDEDED"/>
            </a:solidFill>
            <a:prstDash val="solid"/>
          </a:ln>
        </p:spPr>
      </p:sp>
      <p:sp>
        <p:nvSpPr>
          <p:cNvPr id="7" name="Text 5"/>
          <p:cNvSpPr/>
          <p:nvPr/>
        </p:nvSpPr>
        <p:spPr>
          <a:xfrm>
            <a:off x="685800" y="1463040"/>
            <a:ext cx="1725107" cy="1051560"/>
          </a:xfrm>
          <a:prstGeom prst="rect">
            <a:avLst/>
          </a:prstGeom>
          <a:noFill/>
          <a:ln/>
        </p:spPr>
        <p:txBody>
          <a:bodyPr wrap="square" lIns="0" tIns="0" rIns="0" bIns="0" rtlCol="0" anchor="t"/>
          <a:lstStyle/>
          <a:p>
            <a:pPr indent="0" marL="0">
              <a:spcAft>
                <a:spcPts val="300"/>
              </a:spcAft>
              <a:buNone/>
            </a:pPr>
            <a:r>
              <a:rPr lang="en-US" sz="1400" b="1" dirty="0">
                <a:solidFill>
                  <a:srgbClr val="262525"/>
                </a:solidFill>
                <a:latin typeface="Geist" pitchFamily="34" charset="0"/>
                <a:ea typeface="Geist" pitchFamily="34" charset="-122"/>
                <a:cs typeface="Geist" pitchFamily="34" charset="-120"/>
              </a:rPr>
              <a:t>Suppress</a:t>
            </a:r>
            <a:endParaRPr lang="en-US" sz="1400" dirty="0"/>
          </a:p>
          <a:p>
            <a:pPr indent="0" marL="0">
              <a:spcAft>
                <a:spcPts val="300"/>
              </a:spcAft>
              <a:buNone/>
            </a:pPr>
            <a:r>
              <a:rPr lang="en-US" sz="1100" dirty="0">
                <a:solidFill>
                  <a:srgbClr val="403D3D"/>
                </a:solidFill>
                <a:latin typeface="Geist" pitchFamily="34" charset="0"/>
                <a:ea typeface="Geist" pitchFamily="34" charset="-122"/>
                <a:cs typeface="Geist" pitchFamily="34" charset="-120"/>
              </a:rPr>
              <a:t>No email, outside the buyer set, restructuring hold, shadowed IC</a:t>
            </a:r>
            <a:endParaRPr lang="en-US" sz="1400" dirty="0"/>
          </a:p>
        </p:txBody>
      </p:sp>
      <p:sp>
        <p:nvSpPr>
          <p:cNvPr id="8" name="Text 6"/>
          <p:cNvSpPr/>
          <p:nvPr/>
        </p:nvSpPr>
        <p:spPr>
          <a:xfrm>
            <a:off x="2548067" y="1737360"/>
            <a:ext cx="274320" cy="457200"/>
          </a:xfrm>
          <a:prstGeom prst="rect">
            <a:avLst/>
          </a:prstGeom>
          <a:noFill/>
          <a:ln/>
        </p:spPr>
        <p:txBody>
          <a:bodyPr wrap="square" lIns="0" tIns="0" rIns="0" bIns="0" rtlCol="0" anchor="ctr"/>
          <a:lstStyle/>
          <a:p>
            <a:pPr algn="ctr" indent="0" marL="0">
              <a:buNone/>
            </a:pPr>
            <a:r>
              <a:rPr lang="en-US" sz="1600" dirty="0">
                <a:solidFill>
                  <a:srgbClr val="7B7574"/>
                </a:solidFill>
                <a:latin typeface="Geist" pitchFamily="34" charset="0"/>
                <a:ea typeface="Geist" pitchFamily="34" charset="-122"/>
                <a:cs typeface="Geist" pitchFamily="34" charset="-120"/>
              </a:rPr>
              <a:t>→</a:t>
            </a:r>
            <a:endParaRPr lang="en-US" sz="1600" dirty="0"/>
          </a:p>
        </p:txBody>
      </p:sp>
      <p:sp>
        <p:nvSpPr>
          <p:cNvPr id="9" name="Shape 7"/>
          <p:cNvSpPr/>
          <p:nvPr/>
        </p:nvSpPr>
        <p:spPr>
          <a:xfrm>
            <a:off x="2822387" y="1371600"/>
            <a:ext cx="1999427" cy="1234440"/>
          </a:xfrm>
          <a:prstGeom prst="roundRect">
            <a:avLst>
              <a:gd name="adj" fmla="val 8889"/>
            </a:avLst>
          </a:prstGeom>
          <a:solidFill>
            <a:srgbClr val="FFFFFF"/>
          </a:solidFill>
          <a:ln w="12700">
            <a:solidFill>
              <a:srgbClr val="EDEDED"/>
            </a:solidFill>
            <a:prstDash val="solid"/>
          </a:ln>
        </p:spPr>
      </p:sp>
      <p:sp>
        <p:nvSpPr>
          <p:cNvPr id="10" name="Text 8"/>
          <p:cNvSpPr/>
          <p:nvPr/>
        </p:nvSpPr>
        <p:spPr>
          <a:xfrm>
            <a:off x="2959547" y="1463040"/>
            <a:ext cx="1725107" cy="1051560"/>
          </a:xfrm>
          <a:prstGeom prst="rect">
            <a:avLst/>
          </a:prstGeom>
          <a:noFill/>
          <a:ln/>
        </p:spPr>
        <p:txBody>
          <a:bodyPr wrap="square" lIns="0" tIns="0" rIns="0" bIns="0" rtlCol="0" anchor="t"/>
          <a:lstStyle/>
          <a:p>
            <a:pPr indent="0" marL="0">
              <a:spcAft>
                <a:spcPts val="300"/>
              </a:spcAft>
              <a:buNone/>
            </a:pPr>
            <a:r>
              <a:rPr lang="en-US" sz="1400" b="1" dirty="0">
                <a:solidFill>
                  <a:srgbClr val="262525"/>
                </a:solidFill>
                <a:latin typeface="Geist" pitchFamily="34" charset="0"/>
                <a:ea typeface="Geist" pitchFamily="34" charset="-122"/>
                <a:cs typeface="Geist" pitchFamily="34" charset="-120"/>
              </a:rPr>
              <a:t>Campaign</a:t>
            </a:r>
            <a:endParaRPr lang="en-US" sz="1400" dirty="0"/>
          </a:p>
          <a:p>
            <a:pPr indent="0" marL="0">
              <a:spcAft>
                <a:spcPts val="300"/>
              </a:spcAft>
              <a:buNone/>
            </a:pPr>
            <a:r>
              <a:rPr lang="en-US" sz="1100" dirty="0">
                <a:solidFill>
                  <a:srgbClr val="403D3D"/>
                </a:solidFill>
                <a:latin typeface="Geist" pitchFamily="34" charset="0"/>
                <a:ea typeface="Geist" pitchFamily="34" charset="-122"/>
                <a:cs typeface="Geist" pitchFamily="34" charset="-120"/>
              </a:rPr>
              <a:t>From the company’s trigger</a:t>
            </a:r>
            <a:endParaRPr lang="en-US" sz="1400" dirty="0"/>
          </a:p>
        </p:txBody>
      </p:sp>
      <p:sp>
        <p:nvSpPr>
          <p:cNvPr id="11" name="Text 9"/>
          <p:cNvSpPr/>
          <p:nvPr/>
        </p:nvSpPr>
        <p:spPr>
          <a:xfrm>
            <a:off x="4821814" y="1737360"/>
            <a:ext cx="274320" cy="457200"/>
          </a:xfrm>
          <a:prstGeom prst="rect">
            <a:avLst/>
          </a:prstGeom>
          <a:noFill/>
          <a:ln/>
        </p:spPr>
        <p:txBody>
          <a:bodyPr wrap="square" lIns="0" tIns="0" rIns="0" bIns="0" rtlCol="0" anchor="ctr"/>
          <a:lstStyle/>
          <a:p>
            <a:pPr algn="ctr" indent="0" marL="0">
              <a:buNone/>
            </a:pPr>
            <a:r>
              <a:rPr lang="en-US" sz="1600" dirty="0">
                <a:solidFill>
                  <a:srgbClr val="7B7574"/>
                </a:solidFill>
                <a:latin typeface="Geist" pitchFamily="34" charset="0"/>
                <a:ea typeface="Geist" pitchFamily="34" charset="-122"/>
                <a:cs typeface="Geist" pitchFamily="34" charset="-120"/>
              </a:rPr>
              <a:t>→</a:t>
            </a:r>
            <a:endParaRPr lang="en-US" sz="1600" dirty="0"/>
          </a:p>
        </p:txBody>
      </p:sp>
      <p:sp>
        <p:nvSpPr>
          <p:cNvPr id="12" name="Shape 10"/>
          <p:cNvSpPr/>
          <p:nvPr/>
        </p:nvSpPr>
        <p:spPr>
          <a:xfrm>
            <a:off x="5096134" y="1371600"/>
            <a:ext cx="1999427" cy="1234440"/>
          </a:xfrm>
          <a:prstGeom prst="roundRect">
            <a:avLst>
              <a:gd name="adj" fmla="val 8889"/>
            </a:avLst>
          </a:prstGeom>
          <a:solidFill>
            <a:srgbClr val="FFFFFF"/>
          </a:solidFill>
          <a:ln w="12700">
            <a:solidFill>
              <a:srgbClr val="EDEDED"/>
            </a:solidFill>
            <a:prstDash val="solid"/>
          </a:ln>
        </p:spPr>
      </p:sp>
      <p:sp>
        <p:nvSpPr>
          <p:cNvPr id="13" name="Text 11"/>
          <p:cNvSpPr/>
          <p:nvPr/>
        </p:nvSpPr>
        <p:spPr>
          <a:xfrm>
            <a:off x="5233294" y="1463040"/>
            <a:ext cx="1725107" cy="1051560"/>
          </a:xfrm>
          <a:prstGeom prst="rect">
            <a:avLst/>
          </a:prstGeom>
          <a:noFill/>
          <a:ln/>
        </p:spPr>
        <p:txBody>
          <a:bodyPr wrap="square" lIns="0" tIns="0" rIns="0" bIns="0" rtlCol="0" anchor="t"/>
          <a:lstStyle/>
          <a:p>
            <a:pPr indent="0" marL="0">
              <a:spcAft>
                <a:spcPts val="300"/>
              </a:spcAft>
              <a:buNone/>
            </a:pPr>
            <a:r>
              <a:rPr lang="en-US" sz="1400" b="1" dirty="0">
                <a:solidFill>
                  <a:srgbClr val="262525"/>
                </a:solidFill>
                <a:latin typeface="Geist" pitchFamily="34" charset="0"/>
                <a:ea typeface="Geist" pitchFamily="34" charset="-122"/>
                <a:cs typeface="Geist" pitchFamily="34" charset="-120"/>
              </a:rPr>
              <a:t>Angle</a:t>
            </a:r>
            <a:endParaRPr lang="en-US" sz="1400" dirty="0"/>
          </a:p>
          <a:p>
            <a:pPr indent="0" marL="0">
              <a:spcAft>
                <a:spcPts val="300"/>
              </a:spcAft>
              <a:buNone/>
            </a:pPr>
            <a:r>
              <a:rPr lang="en-US" sz="1100" dirty="0">
                <a:solidFill>
                  <a:srgbClr val="403D3D"/>
                </a:solidFill>
                <a:latin typeface="Geist" pitchFamily="34" charset="0"/>
                <a:ea typeface="Geist" pitchFamily="34" charset="-122"/>
                <a:cs typeface="Geist" pitchFamily="34" charset="-120"/>
              </a:rPr>
              <a:t>From the department</a:t>
            </a:r>
            <a:endParaRPr lang="en-US" sz="1400" dirty="0"/>
          </a:p>
        </p:txBody>
      </p:sp>
      <p:sp>
        <p:nvSpPr>
          <p:cNvPr id="14" name="Text 12"/>
          <p:cNvSpPr/>
          <p:nvPr/>
        </p:nvSpPr>
        <p:spPr>
          <a:xfrm>
            <a:off x="7095561" y="1737360"/>
            <a:ext cx="274320" cy="457200"/>
          </a:xfrm>
          <a:prstGeom prst="rect">
            <a:avLst/>
          </a:prstGeom>
          <a:noFill/>
          <a:ln/>
        </p:spPr>
        <p:txBody>
          <a:bodyPr wrap="square" lIns="0" tIns="0" rIns="0" bIns="0" rtlCol="0" anchor="ctr"/>
          <a:lstStyle/>
          <a:p>
            <a:pPr algn="ctr" indent="0" marL="0">
              <a:buNone/>
            </a:pPr>
            <a:r>
              <a:rPr lang="en-US" sz="1600" dirty="0">
                <a:solidFill>
                  <a:srgbClr val="7B7574"/>
                </a:solidFill>
                <a:latin typeface="Geist" pitchFamily="34" charset="0"/>
                <a:ea typeface="Geist" pitchFamily="34" charset="-122"/>
                <a:cs typeface="Geist" pitchFamily="34" charset="-120"/>
              </a:rPr>
              <a:t>→</a:t>
            </a:r>
            <a:endParaRPr lang="en-US" sz="1600" dirty="0"/>
          </a:p>
        </p:txBody>
      </p:sp>
      <p:sp>
        <p:nvSpPr>
          <p:cNvPr id="15" name="Shape 13"/>
          <p:cNvSpPr/>
          <p:nvPr/>
        </p:nvSpPr>
        <p:spPr>
          <a:xfrm>
            <a:off x="7369881" y="1371600"/>
            <a:ext cx="1999427" cy="1234440"/>
          </a:xfrm>
          <a:prstGeom prst="roundRect">
            <a:avLst>
              <a:gd name="adj" fmla="val 8889"/>
            </a:avLst>
          </a:prstGeom>
          <a:solidFill>
            <a:srgbClr val="FFFFFF"/>
          </a:solidFill>
          <a:ln w="12700">
            <a:solidFill>
              <a:srgbClr val="EDEDED"/>
            </a:solidFill>
            <a:prstDash val="solid"/>
          </a:ln>
        </p:spPr>
      </p:sp>
      <p:sp>
        <p:nvSpPr>
          <p:cNvPr id="16" name="Text 14"/>
          <p:cNvSpPr/>
          <p:nvPr/>
        </p:nvSpPr>
        <p:spPr>
          <a:xfrm>
            <a:off x="7507041" y="1463040"/>
            <a:ext cx="1725107" cy="1051560"/>
          </a:xfrm>
          <a:prstGeom prst="rect">
            <a:avLst/>
          </a:prstGeom>
          <a:noFill/>
          <a:ln/>
        </p:spPr>
        <p:txBody>
          <a:bodyPr wrap="square" lIns="0" tIns="0" rIns="0" bIns="0" rtlCol="0" anchor="t"/>
          <a:lstStyle/>
          <a:p>
            <a:pPr indent="0" marL="0">
              <a:spcAft>
                <a:spcPts val="300"/>
              </a:spcAft>
              <a:buNone/>
            </a:pPr>
            <a:r>
              <a:rPr lang="en-US" sz="1400" b="1" dirty="0">
                <a:solidFill>
                  <a:srgbClr val="262525"/>
                </a:solidFill>
                <a:latin typeface="Geist" pitchFamily="34" charset="0"/>
                <a:ea typeface="Geist" pitchFamily="34" charset="-122"/>
                <a:cs typeface="Geist" pitchFamily="34" charset="-120"/>
              </a:rPr>
              <a:t>Band</a:t>
            </a:r>
            <a:endParaRPr lang="en-US" sz="1400" dirty="0"/>
          </a:p>
          <a:p>
            <a:pPr indent="0" marL="0">
              <a:spcAft>
                <a:spcPts val="300"/>
              </a:spcAft>
              <a:buNone/>
            </a:pPr>
            <a:r>
              <a:rPr lang="en-US" sz="1100" dirty="0">
                <a:solidFill>
                  <a:srgbClr val="403D3D"/>
                </a:solidFill>
                <a:latin typeface="Geist" pitchFamily="34" charset="0"/>
                <a:ea typeface="Geist" pitchFamily="34" charset="-122"/>
                <a:cs typeface="Geist" pitchFamily="34" charset="-120"/>
              </a:rPr>
              <a:t>From seniority: Exec or Practitioner</a:t>
            </a:r>
            <a:endParaRPr lang="en-US" sz="1400" dirty="0"/>
          </a:p>
        </p:txBody>
      </p:sp>
      <p:sp>
        <p:nvSpPr>
          <p:cNvPr id="17" name="Text 15"/>
          <p:cNvSpPr/>
          <p:nvPr/>
        </p:nvSpPr>
        <p:spPr>
          <a:xfrm>
            <a:off x="9369308" y="1737360"/>
            <a:ext cx="274320" cy="457200"/>
          </a:xfrm>
          <a:prstGeom prst="rect">
            <a:avLst/>
          </a:prstGeom>
          <a:noFill/>
          <a:ln/>
        </p:spPr>
        <p:txBody>
          <a:bodyPr wrap="square" lIns="0" tIns="0" rIns="0" bIns="0" rtlCol="0" anchor="ctr"/>
          <a:lstStyle/>
          <a:p>
            <a:pPr algn="ctr" indent="0" marL="0">
              <a:buNone/>
            </a:pPr>
            <a:r>
              <a:rPr lang="en-US" sz="1600" dirty="0">
                <a:solidFill>
                  <a:srgbClr val="7B7574"/>
                </a:solidFill>
                <a:latin typeface="Geist" pitchFamily="34" charset="0"/>
                <a:ea typeface="Geist" pitchFamily="34" charset="-122"/>
                <a:cs typeface="Geist" pitchFamily="34" charset="-120"/>
              </a:rPr>
              <a:t>→</a:t>
            </a:r>
            <a:endParaRPr lang="en-US" sz="1600" dirty="0"/>
          </a:p>
        </p:txBody>
      </p:sp>
      <p:sp>
        <p:nvSpPr>
          <p:cNvPr id="18" name="Shape 16"/>
          <p:cNvSpPr/>
          <p:nvPr/>
        </p:nvSpPr>
        <p:spPr>
          <a:xfrm>
            <a:off x="9643628" y="1371600"/>
            <a:ext cx="1999427" cy="1234440"/>
          </a:xfrm>
          <a:prstGeom prst="roundRect">
            <a:avLst>
              <a:gd name="adj" fmla="val 8889"/>
            </a:avLst>
          </a:prstGeom>
          <a:solidFill>
            <a:srgbClr val="FFFFFF"/>
          </a:solidFill>
          <a:ln w="12700">
            <a:solidFill>
              <a:srgbClr val="EDEDED"/>
            </a:solidFill>
            <a:prstDash val="solid"/>
          </a:ln>
        </p:spPr>
      </p:sp>
      <p:sp>
        <p:nvSpPr>
          <p:cNvPr id="19" name="Text 17"/>
          <p:cNvSpPr/>
          <p:nvPr/>
        </p:nvSpPr>
        <p:spPr>
          <a:xfrm>
            <a:off x="9780788" y="1463040"/>
            <a:ext cx="1725107" cy="1051560"/>
          </a:xfrm>
          <a:prstGeom prst="rect">
            <a:avLst/>
          </a:prstGeom>
          <a:noFill/>
          <a:ln/>
        </p:spPr>
        <p:txBody>
          <a:bodyPr wrap="square" lIns="0" tIns="0" rIns="0" bIns="0" rtlCol="0" anchor="t"/>
          <a:lstStyle/>
          <a:p>
            <a:pPr indent="0" marL="0">
              <a:spcAft>
                <a:spcPts val="300"/>
              </a:spcAft>
              <a:buNone/>
            </a:pPr>
            <a:r>
              <a:rPr lang="en-US" sz="1400" b="1" dirty="0">
                <a:solidFill>
                  <a:srgbClr val="262525"/>
                </a:solidFill>
                <a:latin typeface="Geist" pitchFamily="34" charset="0"/>
                <a:ea typeface="Geist" pitchFamily="34" charset="-122"/>
                <a:cs typeface="Geist" pitchFamily="34" charset="-120"/>
              </a:rPr>
              <a:t>Lead Signal</a:t>
            </a:r>
            <a:endParaRPr lang="en-US" sz="1400" dirty="0"/>
          </a:p>
          <a:p>
            <a:pPr indent="0" marL="0">
              <a:spcAft>
                <a:spcPts val="300"/>
              </a:spcAft>
              <a:buNone/>
            </a:pPr>
            <a:r>
              <a:rPr lang="en-US" sz="1100" dirty="0">
                <a:solidFill>
                  <a:srgbClr val="403D3D"/>
                </a:solidFill>
                <a:latin typeface="Geist" pitchFamily="34" charset="0"/>
                <a:ea typeface="Geist" pitchFamily="34" charset="-122"/>
                <a:cs typeface="Geist" pitchFamily="34" charset="-120"/>
              </a:rPr>
              <a:t>The first usable rung of the fallback ladder</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94415" cy="2926080"/>
        </p:xfrm>
        <a:graphic>
          <a:graphicData uri="http://schemas.openxmlformats.org/drawingml/2006/table">
            <a:tbl>
              <a:tblPr/>
              <a:tblGrid>
                <a:gridCol w="1920240"/>
                <a:gridCol w="6400800"/>
                <a:gridCol w="1097280"/>
                <a:gridCol w="1673352"/>
              </a:tblGrid>
              <a:tr h="585216">
                <a:tc>
                  <a:txBody>
                    <a:bodyPr/>
                    <a:lstStyle/>
                    <a:p>
                      <a:pPr algn="l" indent="0" marL="0">
                        <a:buNone/>
                      </a:pPr>
                      <a:r>
                        <a:rPr lang="en-US" sz="1250" b="1" dirty="0">
                          <a:solidFill>
                            <a:srgbClr val="262525"/>
                          </a:solidFill>
                          <a:latin typeface="Geist" pitchFamily="34" charset="0"/>
                          <a:ea typeface="Geist" pitchFamily="34" charset="-122"/>
                          <a:cs typeface="Geist" pitchFamily="34" charset="-120"/>
                        </a:rPr>
                        <a:t>Campaign</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250" b="1" dirty="0">
                          <a:solidFill>
                            <a:srgbClr val="262525"/>
                          </a:solidFill>
                          <a:latin typeface="Geist" pitchFamily="34" charset="0"/>
                          <a:ea typeface="Geist" pitchFamily="34" charset="-122"/>
                          <a:cs typeface="Geist" pitchFamily="34" charset="-120"/>
                        </a:rPr>
                        <a:t>Why now</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r" indent="0" marL="0">
                        <a:buNone/>
                      </a:pPr>
                      <a:r>
                        <a:rPr lang="en-US" sz="1250" b="1" dirty="0">
                          <a:solidFill>
                            <a:srgbClr val="262525"/>
                          </a:solidFill>
                          <a:latin typeface="Geist" pitchFamily="34" charset="0"/>
                          <a:ea typeface="Geist" pitchFamily="34" charset="-122"/>
                          <a:cs typeface="Geist" pitchFamily="34" charset="-120"/>
                        </a:rPr>
                        <a:t>Contacts</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250" b="1" dirty="0">
                          <a:solidFill>
                            <a:srgbClr val="262525"/>
                          </a:solidFill>
                          <a:latin typeface="Geist" pitchFamily="34" charset="0"/>
                          <a:ea typeface="Geist" pitchFamily="34" charset="-122"/>
                          <a:cs typeface="Geist" pitchFamily="34" charset="-120"/>
                        </a:rPr>
                        <a:t>Campaign order</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585216">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Scaling Fast</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Headcount is up. People, IT and Finance requests grow with it; the back office shouldn’t have to.</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250" dirty="0">
                          <a:solidFill>
                            <a:srgbClr val="403D3D"/>
                          </a:solidFill>
                          <a:latin typeface="Geist" pitchFamily="34" charset="0"/>
                          <a:ea typeface="Geist" pitchFamily="34" charset="-122"/>
                          <a:cs typeface="Geist" pitchFamily="34" charset="-120"/>
                        </a:rPr>
                        <a:t>78</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1st</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85216">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AI Moment</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They already invest in AI. Governed internal agents are the next build, and they don’t have to build them.</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250" dirty="0">
                          <a:solidFill>
                            <a:srgbClr val="403D3D"/>
                          </a:solidFill>
                          <a:latin typeface="Geist" pitchFamily="34" charset="0"/>
                          <a:ea typeface="Geist" pitchFamily="34" charset="-122"/>
                          <a:cs typeface="Geist" pitchFamily="34" charset="-120"/>
                        </a:rPr>
                        <a:t>70</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2nd</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85216">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Operating Reset</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A new COO or an efficiency push means someone is looking hard at how back-office work gets done.</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250" dirty="0">
                          <a:solidFill>
                            <a:srgbClr val="403D3D"/>
                          </a:solidFill>
                          <a:latin typeface="Geist" pitchFamily="34" charset="0"/>
                          <a:ea typeface="Geist" pitchFamily="34" charset="-122"/>
                          <a:cs typeface="Geist" pitchFamily="34" charset="-120"/>
                        </a:rPr>
                        <a:t>61</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3rd</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585216">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Evergreen</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No live reason to write, so the email leads with the system of record or headcount trajectory.</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250" dirty="0">
                          <a:solidFill>
                            <a:srgbClr val="403D3D"/>
                          </a:solidFill>
                          <a:latin typeface="Geist" pitchFamily="34" charset="0"/>
                          <a:ea typeface="Geist" pitchFamily="34" charset="-122"/>
                          <a:cs typeface="Geist" pitchFamily="34" charset="-120"/>
                        </a:rPr>
                        <a:t>207</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250" dirty="0">
                          <a:solidFill>
                            <a:srgbClr val="403D3D"/>
                          </a:solidFill>
                          <a:latin typeface="Geist" pitchFamily="34" charset="0"/>
                          <a:ea typeface="Geist" pitchFamily="34" charset="-122"/>
                          <a:cs typeface="Geist" pitchFamily="34" charset="-120"/>
                        </a:rPr>
                        <a:t>4th, deprioritised</a:t>
                      </a:r>
                      <a:endParaRPr lang="en-US" sz="12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Four signals on a fallback ladder: the first usable one leads</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2606040"/>
        </p:xfrm>
        <a:graphic>
          <a:graphicData uri="http://schemas.openxmlformats.org/drawingml/2006/table">
            <a:tbl>
              <a:tblPr/>
              <a:tblGrid>
                <a:gridCol w="640080"/>
                <a:gridCol w="1920240"/>
                <a:gridCol w="6428232"/>
                <a:gridCol w="914400"/>
                <a:gridCol w="1188720"/>
              </a:tblGrid>
              <a:tr h="434340">
                <a:tc>
                  <a:txBody>
                    <a:bodyPr/>
                    <a:lstStyle/>
                    <a:p>
                      <a:pPr algn="r" indent="0" marL="0">
                        <a:buNone/>
                      </a:pPr>
                      <a:r>
                        <a:rPr lang="en-US" sz="1150" b="1" dirty="0">
                          <a:solidFill>
                            <a:srgbClr val="262525"/>
                          </a:solidFill>
                          <a:latin typeface="Geist" pitchFamily="34" charset="0"/>
                          <a:ea typeface="Geist" pitchFamily="34" charset="-122"/>
                          <a:cs typeface="Geist" pitchFamily="34" charset="-120"/>
                        </a:rPr>
                        <a:t>Rung</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150" b="1" dirty="0">
                          <a:solidFill>
                            <a:srgbClr val="262525"/>
                          </a:solidFill>
                          <a:latin typeface="Geist" pitchFamily="34" charset="0"/>
                          <a:ea typeface="Geist" pitchFamily="34" charset="-122"/>
                          <a:cs typeface="Geist" pitchFamily="34" charset="-120"/>
                        </a:rPr>
                        <a:t>Signal</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150" b="1" dirty="0">
                          <a:solidFill>
                            <a:srgbClr val="262525"/>
                          </a:solidFill>
                          <a:latin typeface="Geist" pitchFamily="34" charset="0"/>
                          <a:ea typeface="Geist" pitchFamily="34" charset="-122"/>
                          <a:cs typeface="Geist" pitchFamily="34" charset="-120"/>
                        </a:rPr>
                        <a:t>Why it counts</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r" indent="0" marL="0">
                        <a:buNone/>
                      </a:pPr>
                      <a:r>
                        <a:rPr lang="en-US" sz="1150" b="1" dirty="0">
                          <a:solidFill>
                            <a:srgbClr val="262525"/>
                          </a:solidFill>
                          <a:latin typeface="Geist" pitchFamily="34" charset="0"/>
                          <a:ea typeface="Geist" pitchFamily="34" charset="-122"/>
                          <a:cs typeface="Geist" pitchFamily="34" charset="-120"/>
                        </a:rPr>
                        <a:t>As Lead</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r" indent="0" marL="0">
                        <a:buNone/>
                      </a:pPr>
                      <a:r>
                        <a:rPr lang="en-US" sz="1150" b="1" dirty="0">
                          <a:solidFill>
                            <a:srgbClr val="262525"/>
                          </a:solidFill>
                          <a:latin typeface="Geist" pitchFamily="34" charset="0"/>
                          <a:ea typeface="Geist" pitchFamily="34" charset="-122"/>
                          <a:cs typeface="Geist" pitchFamily="34" charset="-120"/>
                        </a:rPr>
                        <a:t>As Supporting</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4343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1</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Trigger</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A reason to write now: funding, a new office, an AI build, a new COO. Older than 365 days doesn’t count, and it is never told to the person whose own hire is the trigger.</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208</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343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2</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System of record</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Where Athena acts: the HRIS, or the ITSM for IT Service. Linear and Zendesk aren’t ITSMs, so they count as blank. Workday gets its own line.</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114</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114</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343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2</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AI maturity</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Governed AI only, in place of the system of record: named AI tools or 10+ open AI/ML roles. It opens the build-or-buy conversation.</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12</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33</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343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3</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Headcount trajectory</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Growing 25%+ in 12 months: requests grow with headcount. Blank growth is worked out from the employee counts; flat or shrinking is never used.</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28</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72</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343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4</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Floor</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No usable signal: a plain opener about the angle and a soft CTA, with no claim about their company.</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54</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
        <p:nvSpPr>
          <p:cNvPr id="7" name="Text 4"/>
          <p:cNvSpPr/>
          <p:nvPr/>
        </p:nvSpPr>
        <p:spPr>
          <a:xfrm>
            <a:off x="548640" y="4251960"/>
            <a:ext cx="4480560" cy="19202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403D3D"/>
                </a:solidFill>
                <a:latin typeface="Geist" pitchFamily="34" charset="0"/>
                <a:ea typeface="Geist" pitchFamily="34" charset="-122"/>
                <a:cs typeface="Geist" pitchFamily="34" charset="-120"/>
              </a:rPr>
              <a:t>Every one of the 416 emails has exactly one lead signal. The next usable rung becomes the supporting line, and there is never a third.</a:t>
            </a:r>
            <a:endParaRPr lang="en-US" sz="1250" dirty="0"/>
          </a:p>
          <a:p>
            <a:pPr marL="177800" indent="-177800">
              <a:spcAft>
                <a:spcPts val="800"/>
              </a:spcAft>
              <a:buSzPct val="100000"/>
              <a:buChar char="•"/>
            </a:pPr>
            <a:r>
              <a:rPr lang="en-US" sz="1250" dirty="0">
                <a:solidFill>
                  <a:srgbClr val="403D3D"/>
                </a:solidFill>
                <a:latin typeface="Geist" pitchFamily="34" charset="0"/>
                <a:ea typeface="Geist" pitchFamily="34" charset="-122"/>
                <a:cs typeface="Geist" pitchFamily="34" charset="-120"/>
              </a:rPr>
              <a:t>The lead signal picks the opener; the campaign, angle and band pick the rest of the email (slide A1).</a:t>
            </a:r>
            <a:endParaRPr lang="en-US" sz="1250" dirty="0"/>
          </a:p>
        </p:txBody>
      </p:sp>
      <p:sp>
        <p:nvSpPr>
          <p:cNvPr id="8" name="Text 5"/>
          <p:cNvSpPr/>
          <p:nvPr/>
        </p:nvSpPr>
        <p:spPr>
          <a:xfrm>
            <a:off x="5394960" y="4206240"/>
            <a:ext cx="6248095" cy="320040"/>
          </a:xfrm>
          <a:prstGeom prst="rect">
            <a:avLst/>
          </a:prstGeom>
          <a:noFill/>
          <a:ln/>
        </p:spPr>
        <p:txBody>
          <a:bodyPr wrap="square" lIns="0" tIns="0" rIns="0" bIns="0" rtlCol="0" anchor="ctr"/>
          <a:lstStyle/>
          <a:p>
            <a:pPr indent="0" marL="0">
              <a:buNone/>
            </a:pPr>
            <a:r>
              <a:rPr lang="en-US" sz="1500" dirty="0">
                <a:solidFill>
                  <a:srgbClr val="262525"/>
                </a:solidFill>
                <a:latin typeface="Source Serif 4" pitchFamily="34" charset="0"/>
                <a:ea typeface="Source Serif 4" pitchFamily="34" charset="-122"/>
                <a:cs typeface="Source Serif 4" pitchFamily="34" charset="-120"/>
              </a:rPr>
              <a:t>What I rejected</a:t>
            </a:r>
            <a:endParaRPr lang="en-US" sz="15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394960" y="4572000"/>
          <a:ext cx="6248095" cy="1645920"/>
        </p:xfrm>
        <a:graphic>
          <a:graphicData uri="http://schemas.openxmlformats.org/drawingml/2006/table">
            <a:tbl>
              <a:tblPr/>
              <a:tblGrid>
                <a:gridCol w="2743200"/>
                <a:gridCol w="3504895"/>
              </a:tblGrid>
              <a:tr h="274320">
                <a:tc>
                  <a:txBody>
                    <a:bodyPr/>
                    <a:lstStyle/>
                    <a:p>
                      <a:pPr algn="l" indent="0" marL="0">
                        <a:buNone/>
                      </a:pPr>
                      <a:r>
                        <a:rPr lang="en-US" sz="1000" b="1" dirty="0">
                          <a:solidFill>
                            <a:srgbClr val="262525"/>
                          </a:solidFill>
                          <a:latin typeface="Geist" pitchFamily="34" charset="0"/>
                          <a:ea typeface="Geist" pitchFamily="34" charset="-122"/>
                          <a:cs typeface="Geist" pitchFamily="34" charset="-120"/>
                        </a:rPr>
                        <a:t>Field</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000" b="1" dirty="0">
                          <a:solidFill>
                            <a:srgbClr val="262525"/>
                          </a:solidFill>
                          <a:latin typeface="Geist" pitchFamily="34" charset="0"/>
                          <a:ea typeface="Geist" pitchFamily="34" charset="-122"/>
                          <a:cs typeface="Geist" pitchFamily="34" charset="-120"/>
                        </a:rPr>
                        <a:t>Why not</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274320">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months_in_role</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Only 23 emailable contacts, and “congrats on the new role” is a cliché.</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274320">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recent_news_headline</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Templated, and wrong for 13 companies.</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274320">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Funding amount, lead investor</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Already covered by the funding trigger.</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274320">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crm, marketing_automation, open_roles_revops</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Outside Athena’s domain.</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274320">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glassdoor_rating</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000" dirty="0">
                          <a:solidFill>
                            <a:srgbClr val="403D3D"/>
                          </a:solidFill>
                          <a:latin typeface="Geist" pitchFamily="34" charset="0"/>
                          <a:ea typeface="Geist" pitchFamily="34" charset="-122"/>
                          <a:cs typeface="Geist" pitchFamily="34" charset="-120"/>
                        </a:rPr>
                        <a:t>Unflattering, and creepy to bring up.</a:t>
                      </a:r>
                      <a:endParaRPr lang="en-US" sz="10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How an email is built: routing, skeleton, snippets</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5</a:t>
            </a:r>
            <a:endParaRPr lang="en-US" sz="900" dirty="0"/>
          </a:p>
        </p:txBody>
      </p:sp>
      <p:sp>
        <p:nvSpPr>
          <p:cNvPr id="6" name="Text 4"/>
          <p:cNvSpPr/>
          <p:nvPr/>
        </p:nvSpPr>
        <p:spPr>
          <a:xfrm>
            <a:off x="548640" y="1371600"/>
            <a:ext cx="11094415" cy="411480"/>
          </a:xfrm>
          <a:prstGeom prst="rect">
            <a:avLst/>
          </a:prstGeom>
          <a:noFill/>
          <a:ln/>
        </p:spPr>
        <p:txBody>
          <a:bodyPr wrap="square" lIns="0" tIns="0" rIns="0" bIns="0" rtlCol="0" anchor="t"/>
          <a:lstStyle/>
          <a:p>
            <a:pPr indent="0" marL="0">
              <a:spcAft>
                <a:spcPts val="600"/>
              </a:spcAft>
              <a:buNone/>
            </a:pPr>
            <a:r>
              <a:rPr lang="en-US" sz="1700" dirty="0">
                <a:solidFill>
                  <a:srgbClr val="403D3D"/>
                </a:solidFill>
                <a:latin typeface="Geist" pitchFamily="34" charset="0"/>
                <a:ea typeface="Geist" pitchFamily="34" charset="-122"/>
                <a:cs typeface="Geist" pitchFamily="34" charset="-120"/>
              </a:rPr>
              <a:t>Nothing is written at send time: every email is assembled from approved snippets.</a:t>
            </a:r>
            <a:endParaRPr lang="en-US" sz="1700" dirty="0"/>
          </a:p>
        </p:txBody>
      </p:sp>
      <p:sp>
        <p:nvSpPr>
          <p:cNvPr id="7" name="Shape 5"/>
          <p:cNvSpPr/>
          <p:nvPr/>
        </p:nvSpPr>
        <p:spPr>
          <a:xfrm>
            <a:off x="548640" y="2011680"/>
            <a:ext cx="4206240" cy="3383280"/>
          </a:xfrm>
          <a:prstGeom prst="roundRect">
            <a:avLst>
              <a:gd name="adj" fmla="val 3243"/>
            </a:avLst>
          </a:prstGeom>
          <a:solidFill>
            <a:srgbClr val="F5F5F5"/>
          </a:solidFill>
          <a:ln w="12700">
            <a:solidFill>
              <a:srgbClr val="EDEDED"/>
            </a:solidFill>
            <a:prstDash val="solid"/>
          </a:ln>
        </p:spPr>
      </p:sp>
      <p:sp>
        <p:nvSpPr>
          <p:cNvPr id="8" name="Text 6"/>
          <p:cNvSpPr/>
          <p:nvPr/>
        </p:nvSpPr>
        <p:spPr>
          <a:xfrm>
            <a:off x="777240" y="2194560"/>
            <a:ext cx="3749040" cy="3017520"/>
          </a:xfrm>
          <a:prstGeom prst="rect">
            <a:avLst/>
          </a:prstGeom>
          <a:noFill/>
          <a:ln/>
        </p:spPr>
        <p:txBody>
          <a:bodyPr wrap="square" lIns="0" tIns="0" rIns="0" bIns="0" rtlCol="0" anchor="t"/>
          <a:lstStyle/>
          <a:p>
            <a:pPr indent="0" marL="0">
              <a:buNone/>
            </a:pPr>
            <a:r>
              <a:rPr lang="en-US" sz="1250" dirty="0">
                <a:solidFill>
                  <a:srgbClr val="262525"/>
                </a:solidFill>
                <a:latin typeface="Menlo" pitchFamily="34" charset="0"/>
                <a:ea typeface="Menlo" pitchFamily="34" charset="-122"/>
                <a:cs typeface="Menlo" pitchFamily="34" charset="-120"/>
              </a:rPr>
              <a:t>Subject: {subject}</a:t>
            </a:r>
            <a:endParaRPr lang="en-US" sz="1250" dirty="0"/>
          </a:p>
          <a:p>
            <a:pPr indent="0" marL="0">
              <a:buNone/>
            </a:pPr>
            <a:endParaRPr lang="en-US" sz="1250" dirty="0"/>
          </a:p>
          <a:p>
            <a:pPr indent="0" marL="0">
              <a:buNone/>
            </a:pPr>
            <a:r>
              <a:rPr lang="en-US" sz="1250" dirty="0">
                <a:solidFill>
                  <a:srgbClr val="262525"/>
                </a:solidFill>
                <a:latin typeface="Menlo" pitchFamily="34" charset="0"/>
                <a:ea typeface="Menlo" pitchFamily="34" charset="-122"/>
                <a:cs typeface="Menlo" pitchFamily="34" charset="-120"/>
              </a:rPr>
              <a:t>Hi {first_name},</a:t>
            </a:r>
            <a:endParaRPr lang="en-US" sz="1250" dirty="0"/>
          </a:p>
          <a:p>
            <a:pPr indent="0" marL="0">
              <a:buNone/>
            </a:pPr>
            <a:endParaRPr lang="en-US" sz="1250" dirty="0"/>
          </a:p>
          <a:p>
            <a:pPr indent="0" marL="0">
              <a:buNone/>
            </a:pPr>
            <a:r>
              <a:rPr lang="en-US" sz="1250" dirty="0">
                <a:solidFill>
                  <a:srgbClr val="262525"/>
                </a:solidFill>
                <a:latin typeface="Menlo" pitchFamily="34" charset="0"/>
                <a:ea typeface="Menlo" pitchFamily="34" charset="-122"/>
                <a:cs typeface="Menlo" pitchFamily="34" charset="-120"/>
              </a:rPr>
              <a:t>{trigger} {bridge}</a:t>
            </a:r>
            <a:endParaRPr lang="en-US" sz="1250" dirty="0"/>
          </a:p>
          <a:p>
            <a:pPr indent="0" marL="0">
              <a:buNone/>
            </a:pPr>
            <a:endParaRPr lang="en-US" sz="1250" dirty="0"/>
          </a:p>
          <a:p>
            <a:pPr indent="0" marL="0">
              <a:buNone/>
            </a:pPr>
            <a:r>
              <a:rPr lang="en-US" sz="1250" dirty="0">
                <a:solidFill>
                  <a:srgbClr val="262525"/>
                </a:solidFill>
                <a:latin typeface="Menlo" pitchFamily="34" charset="0"/>
                <a:ea typeface="Menlo" pitchFamily="34" charset="-122"/>
                <a:cs typeface="Menlo" pitchFamily="34" charset="-120"/>
              </a:rPr>
              <a:t>{mechanism} {support} {proof}</a:t>
            </a:r>
            <a:endParaRPr lang="en-US" sz="1250" dirty="0"/>
          </a:p>
          <a:p>
            <a:pPr indent="0" marL="0">
              <a:buNone/>
            </a:pPr>
            <a:endParaRPr lang="en-US" sz="1250" dirty="0"/>
          </a:p>
          <a:p>
            <a:pPr indent="0" marL="0">
              <a:buNone/>
            </a:pPr>
            <a:r>
              <a:rPr lang="en-US" sz="1250" dirty="0">
                <a:solidFill>
                  <a:srgbClr val="262525"/>
                </a:solidFill>
                <a:latin typeface="Menlo" pitchFamily="34" charset="0"/>
                <a:ea typeface="Menlo" pitchFamily="34" charset="-122"/>
                <a:cs typeface="Menlo" pitchFamily="34" charset="-120"/>
              </a:rPr>
              <a:t>{cta}</a:t>
            </a:r>
            <a:endParaRPr lang="en-US" sz="1250" dirty="0"/>
          </a:p>
          <a:p>
            <a:pPr indent="0" marL="0">
              <a:buNone/>
            </a:pPr>
            <a:endParaRPr lang="en-US" sz="1250" dirty="0"/>
          </a:p>
          <a:p>
            <a:pPr indent="0" marL="0">
              <a:buNone/>
            </a:pPr>
            <a:r>
              <a:rPr lang="en-US" sz="1250" dirty="0">
                <a:solidFill>
                  <a:srgbClr val="262525"/>
                </a:solidFill>
                <a:latin typeface="Menlo" pitchFamily="34" charset="0"/>
                <a:ea typeface="Menlo" pitchFamily="34" charset="-122"/>
                <a:cs typeface="Menlo" pitchFamily="34" charset="-120"/>
              </a:rPr>
              <a:t>{rep_name}</a:t>
            </a:r>
            <a:endParaRPr lang="en-US" sz="1250" dirty="0"/>
          </a:p>
        </p:txBody>
      </p:sp>
      <p:sp>
        <p:nvSpPr>
          <p:cNvPr id="9" name="Text 7"/>
          <p:cNvSpPr/>
          <p:nvPr/>
        </p:nvSpPr>
        <p:spPr>
          <a:xfrm>
            <a:off x="5212080" y="2011680"/>
            <a:ext cx="6430975" cy="402336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1550" b="1" dirty="0">
                <a:solidFill>
                  <a:srgbClr val="262525"/>
                </a:solidFill>
                <a:latin typeface="Geist" pitchFamily="34" charset="0"/>
                <a:ea typeface="Geist" pitchFamily="34" charset="-122"/>
                <a:cs typeface="Geist" pitchFamily="34" charset="-120"/>
              </a:rPr>
              <a:t>Routing: </a:t>
            </a:r>
            <a:pPr indent="0" marL="0">
              <a:spcAft>
                <a:spcPts val="1400"/>
              </a:spcAft>
              <a:buNone/>
            </a:pPr>
            <a:r>
              <a:rPr lang="en-US" sz="1550" dirty="0">
                <a:solidFill>
                  <a:srgbClr val="403D3D"/>
                </a:solidFill>
                <a:latin typeface="Geist" pitchFamily="34" charset="0"/>
                <a:ea typeface="Geist" pitchFamily="34" charset="-122"/>
                <a:cs typeface="Geist" pitchFamily="34" charset="-120"/>
              </a:rPr>
              <a:t>decides each contact’s campaign, angle, band and lead signal (slide 3).</a:t>
            </a:r>
            <a:endParaRPr lang="en-US" sz="1550" dirty="0"/>
          </a:p>
          <a:p>
            <a:pPr marL="342900" indent="-342900">
              <a:spcAft>
                <a:spcPts val="1400"/>
              </a:spcAft>
              <a:buSzPct val="100000"/>
              <a:buFont typeface="+mj-lt"/>
              <a:buAutoNum type="arabicPeriod" startAt="1"/>
            </a:pPr>
            <a:r>
              <a:rPr lang="en-US" sz="1550" b="1" dirty="0">
                <a:solidFill>
                  <a:srgbClr val="262525"/>
                </a:solidFill>
                <a:latin typeface="Geist" pitchFamily="34" charset="0"/>
                <a:ea typeface="Geist" pitchFamily="34" charset="-122"/>
                <a:cs typeface="Geist" pitchFamily="34" charset="-120"/>
              </a:rPr>
              <a:t>Skeleton: </a:t>
            </a:r>
            <a:pPr indent="0" marL="0">
              <a:spcAft>
                <a:spcPts val="1400"/>
              </a:spcAft>
              <a:buNone/>
            </a:pPr>
            <a:r>
              <a:rPr lang="en-US" sz="1550" dirty="0">
                <a:solidFill>
                  <a:srgbClr val="403D3D"/>
                </a:solidFill>
                <a:latin typeface="Geist" pitchFamily="34" charset="0"/>
                <a:ea typeface="Geist" pitchFamily="34" charset="-122"/>
                <a:cs typeface="Geist" pitchFamily="34" charset="-120"/>
              </a:rPr>
              <a:t>the step and the lead signal pick one of five skeletons, which sets the sentence order. On the left, the trigger skeleton.</a:t>
            </a:r>
            <a:endParaRPr lang="en-US" sz="1550" dirty="0"/>
          </a:p>
          <a:p>
            <a:pPr marL="342900" indent="-342900">
              <a:spcAft>
                <a:spcPts val="1400"/>
              </a:spcAft>
              <a:buSzPct val="100000"/>
              <a:buFont typeface="+mj-lt"/>
              <a:buAutoNum type="arabicPeriod" startAt="1"/>
            </a:pPr>
            <a:r>
              <a:rPr lang="en-US" sz="1550" b="1" dirty="0">
                <a:solidFill>
                  <a:srgbClr val="262525"/>
                </a:solidFill>
                <a:latin typeface="Geist" pitchFamily="34" charset="0"/>
                <a:ea typeface="Geist" pitchFamily="34" charset="-122"/>
                <a:cs typeface="Geist" pitchFamily="34" charset="-120"/>
              </a:rPr>
              <a:t>Snippets: </a:t>
            </a:r>
            <a:pPr indent="0" marL="0">
              <a:spcAft>
                <a:spcPts val="1400"/>
              </a:spcAft>
              <a:buNone/>
            </a:pPr>
            <a:r>
              <a:rPr lang="en-US" sz="1550" dirty="0">
                <a:solidFill>
                  <a:srgbClr val="403D3D"/>
                </a:solidFill>
                <a:latin typeface="Geist" pitchFamily="34" charset="0"/>
                <a:ea typeface="Geist" pitchFamily="34" charset="-122"/>
                <a:cs typeface="Geist" pitchFamily="34" charset="-120"/>
              </a:rPr>
              <a:t>each place takes an approved snippet, picked by the routing results. An IT practitioner at a company that just raised money gets trigger.funding as the opener and the IT service mechanism line for practitioners.</a:t>
            </a:r>
            <a:endParaRPr lang="en-US" sz="1550" dirty="0"/>
          </a:p>
          <a:p>
            <a:pPr marL="342900" indent="-342900">
              <a:spcAft>
                <a:spcPts val="1400"/>
              </a:spcAft>
              <a:buSzPct val="100000"/>
              <a:buFont typeface="+mj-lt"/>
              <a:buAutoNum type="arabicPeriod" startAt="1"/>
            </a:pPr>
            <a:r>
              <a:rPr lang="en-US" sz="1550" b="1" dirty="0">
                <a:solidFill>
                  <a:srgbClr val="262525"/>
                </a:solidFill>
                <a:latin typeface="Geist" pitchFamily="34" charset="0"/>
                <a:ea typeface="Geist" pitchFamily="34" charset="-122"/>
                <a:cs typeface="Geist" pitchFamily="34" charset="-120"/>
              </a:rPr>
              <a:t>Render: </a:t>
            </a:r>
            <a:pPr indent="0" marL="0">
              <a:spcAft>
                <a:spcPts val="1400"/>
              </a:spcAft>
              <a:buNone/>
            </a:pPr>
            <a:r>
              <a:rPr lang="en-US" sz="1550" dirty="0">
                <a:solidFill>
                  <a:srgbClr val="403D3D"/>
                </a:solidFill>
                <a:latin typeface="Geist" pitchFamily="34" charset="0"/>
                <a:ea typeface="Geist" pitchFamily="34" charset="-122"/>
                <a:cs typeface="Geist" pitchFamily="34" charset="-120"/>
              </a:rPr>
              <a:t>every snippet is written two ways, and contacts at the same company take turns, so colleagues never get the same email word for word. Render fills the slots, then the render checks run on the finished email: a failure holds the contact rather than sending it.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Three more contacts, three more routes</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6</a:t>
            </a:r>
            <a:endParaRPr lang="en-US" sz="900" dirty="0"/>
          </a:p>
        </p:txBody>
      </p:sp>
      <p:sp>
        <p:nvSpPr>
          <p:cNvPr id="6" name="Shape 4"/>
          <p:cNvSpPr/>
          <p:nvPr/>
        </p:nvSpPr>
        <p:spPr>
          <a:xfrm>
            <a:off x="548640" y="1371600"/>
            <a:ext cx="3515258" cy="4892040"/>
          </a:xfrm>
          <a:prstGeom prst="roundRect">
            <a:avLst>
              <a:gd name="adj" fmla="val 3121"/>
            </a:avLst>
          </a:prstGeom>
          <a:solidFill>
            <a:srgbClr val="FFFFFF"/>
          </a:solidFill>
          <a:ln w="12700">
            <a:solidFill>
              <a:srgbClr val="EDEDED"/>
            </a:solidFill>
            <a:prstDash val="solid"/>
          </a:ln>
        </p:spPr>
      </p:sp>
      <p:sp>
        <p:nvSpPr>
          <p:cNvPr id="7" name="Text 5"/>
          <p:cNvSpPr/>
          <p:nvPr/>
        </p:nvSpPr>
        <p:spPr>
          <a:xfrm>
            <a:off x="713232" y="1499616"/>
            <a:ext cx="3186074" cy="4636008"/>
          </a:xfrm>
          <a:prstGeom prst="rect">
            <a:avLst/>
          </a:prstGeom>
          <a:noFill/>
          <a:ln/>
        </p:spPr>
        <p:txBody>
          <a:bodyPr wrap="square" lIns="0" tIns="0" rIns="0" bIns="0" rtlCol="0" anchor="t"/>
          <a:lstStyle/>
          <a:p>
            <a:pPr indent="0" marL="0">
              <a:lnSpc>
                <a:spcPct val="105000"/>
              </a:lnSpc>
              <a:buNone/>
            </a:pPr>
            <a:r>
              <a:rPr lang="en-US" sz="1250" b="1" dirty="0">
                <a:solidFill>
                  <a:srgbClr val="262525"/>
                </a:solidFill>
                <a:latin typeface="Geist" pitchFamily="34" charset="0"/>
                <a:ea typeface="Geist" pitchFamily="34" charset="-122"/>
                <a:cs typeface="Geist" pitchFamily="34" charset="-120"/>
              </a:rPr>
              <a:t>3. Marcus Oyelaran</a:t>
            </a:r>
            <a:endParaRPr lang="en-US" sz="1050" dirty="0"/>
          </a:p>
          <a:p>
            <a:pPr indent="0" marL="0">
              <a:lnSpc>
                <a:spcPct val="105000"/>
              </a:lnSpc>
              <a:buNone/>
            </a:pPr>
            <a:r>
              <a:rPr lang="en-US" sz="1050" dirty="0">
                <a:solidFill>
                  <a:srgbClr val="7B7574"/>
                </a:solidFill>
                <a:latin typeface="Geist" pitchFamily="34" charset="0"/>
                <a:ea typeface="Geist" pitchFamily="34" charset="-122"/>
                <a:cs typeface="Geist" pitchFamily="34" charset="-120"/>
              </a:rPr>
              <a:t>HRIS Manager · Cadence Mutual</a:t>
            </a:r>
            <a:endParaRPr lang="en-US" sz="1050" dirty="0"/>
          </a:p>
          <a:p>
            <a:pPr indent="0" marL="0">
              <a:lnSpc>
                <a:spcPct val="105000"/>
              </a:lnSpc>
              <a:buNone/>
            </a:pPr>
            <a:r>
              <a:rPr lang="en-US" sz="1050" i="1" dirty="0">
                <a:solidFill>
                  <a:srgbClr val="7B7574"/>
                </a:solidFill>
                <a:latin typeface="Geist" pitchFamily="34" charset="0"/>
                <a:ea typeface="Geist" pitchFamily="34" charset="-122"/>
                <a:cs typeface="Geist" pitchFamily="34" charset="-120"/>
              </a:rPr>
              <a:t>Operating Reset · Employee Requests · Practitioner · Lead trigger, supporting system of record</a:t>
            </a:r>
            <a:endParaRPr lang="en-US" sz="1050" dirty="0"/>
          </a:p>
          <a:p>
            <a:pPr indent="0" marL="0">
              <a:lnSpc>
                <a:spcPct val="105000"/>
              </a:lnSpc>
              <a:buNone/>
            </a:pPr>
            <a:r>
              <a:rPr lang="en-US" sz="400" dirty="0">
                <a:solidFill>
                  <a:srgbClr val="403D3D"/>
                </a:solidFill>
                <a:latin typeface="Geist" pitchFamily="34" charset="0"/>
                <a:ea typeface="Geist" pitchFamily="34" charset="-122"/>
                <a:cs typeface="Geist" pitchFamily="34" charset="-120"/>
              </a:rPr>
              <a:t> </a:t>
            </a:r>
            <a:endParaRPr lang="en-US" sz="1050" dirty="0"/>
          </a:p>
          <a:p>
            <a:pPr indent="0" marL="0">
              <a:lnSpc>
                <a:spcPct val="105000"/>
              </a:lnSpc>
              <a:buNone/>
            </a:pPr>
            <a:r>
              <a:rPr lang="en-US" sz="1050" b="1" dirty="0">
                <a:solidFill>
                  <a:srgbClr val="403D3D"/>
                </a:solidFill>
                <a:latin typeface="Geist" pitchFamily="34" charset="0"/>
                <a:ea typeface="Geist" pitchFamily="34" charset="-122"/>
                <a:cs typeface="Geist" pitchFamily="34" charset="-120"/>
              </a:rPr>
              <a:t>Subject: employee requests at Cadence Mutual</a:t>
            </a: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Hi Marcus,</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Running Cadence Mutual well seems to be high on the agenda this year. That often shows how much of HR's week goes on the same questions.</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Athena answers them in Slack or Teams and acts on them, like updating details, as the person who asked. It works on top of SuccessFactors, with nothing to migrate. Athena answers up to 80% of employee requests with no one on your team stepping in.</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Can I send a 2-minute video of it in action?</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Priya Shah</a:t>
            </a:r>
            <a:endParaRPr lang="en-US" sz="1050" dirty="0"/>
          </a:p>
        </p:txBody>
      </p:sp>
      <p:sp>
        <p:nvSpPr>
          <p:cNvPr id="8" name="Shape 6"/>
          <p:cNvSpPr/>
          <p:nvPr/>
        </p:nvSpPr>
        <p:spPr>
          <a:xfrm>
            <a:off x="4338218" y="1371600"/>
            <a:ext cx="3515258" cy="4892040"/>
          </a:xfrm>
          <a:prstGeom prst="roundRect">
            <a:avLst>
              <a:gd name="adj" fmla="val 3121"/>
            </a:avLst>
          </a:prstGeom>
          <a:solidFill>
            <a:srgbClr val="FFFFFF"/>
          </a:solidFill>
          <a:ln w="12700">
            <a:solidFill>
              <a:srgbClr val="EDEDED"/>
            </a:solidFill>
            <a:prstDash val="solid"/>
          </a:ln>
        </p:spPr>
      </p:sp>
      <p:sp>
        <p:nvSpPr>
          <p:cNvPr id="9" name="Text 7"/>
          <p:cNvSpPr/>
          <p:nvPr/>
        </p:nvSpPr>
        <p:spPr>
          <a:xfrm>
            <a:off x="4502810" y="1499616"/>
            <a:ext cx="3186074" cy="4636008"/>
          </a:xfrm>
          <a:prstGeom prst="rect">
            <a:avLst/>
          </a:prstGeom>
          <a:noFill/>
          <a:ln/>
        </p:spPr>
        <p:txBody>
          <a:bodyPr wrap="square" lIns="0" tIns="0" rIns="0" bIns="0" rtlCol="0" anchor="t"/>
          <a:lstStyle/>
          <a:p>
            <a:pPr indent="0" marL="0">
              <a:lnSpc>
                <a:spcPct val="105000"/>
              </a:lnSpc>
              <a:buNone/>
            </a:pPr>
            <a:r>
              <a:rPr lang="en-US" sz="1250" b="1" dirty="0">
                <a:solidFill>
                  <a:srgbClr val="262525"/>
                </a:solidFill>
                <a:latin typeface="Geist" pitchFamily="34" charset="0"/>
                <a:ea typeface="Geist" pitchFamily="34" charset="-122"/>
                <a:cs typeface="Geist" pitchFamily="34" charset="-120"/>
              </a:rPr>
              <a:t>7. Wesley Sullivan</a:t>
            </a:r>
            <a:endParaRPr lang="en-US" sz="1050" dirty="0"/>
          </a:p>
          <a:p>
            <a:pPr indent="0" marL="0">
              <a:lnSpc>
                <a:spcPct val="105000"/>
              </a:lnSpc>
              <a:buNone/>
            </a:pPr>
            <a:r>
              <a:rPr lang="en-US" sz="1050" dirty="0">
                <a:solidFill>
                  <a:srgbClr val="7B7574"/>
                </a:solidFill>
                <a:latin typeface="Geist" pitchFamily="34" charset="0"/>
                <a:ea typeface="Geist" pitchFamily="34" charset="-122"/>
                <a:cs typeface="Geist" pitchFamily="34" charset="-120"/>
              </a:rPr>
              <a:t>Head of Internal Systems · Anvil People Group</a:t>
            </a:r>
            <a:endParaRPr lang="en-US" sz="1050" dirty="0"/>
          </a:p>
          <a:p>
            <a:pPr indent="0" marL="0">
              <a:lnSpc>
                <a:spcPct val="105000"/>
              </a:lnSpc>
              <a:buNone/>
            </a:pPr>
            <a:r>
              <a:rPr lang="en-US" sz="1050" i="1" dirty="0">
                <a:solidFill>
                  <a:srgbClr val="7B7574"/>
                </a:solidFill>
                <a:latin typeface="Geist" pitchFamily="34" charset="0"/>
                <a:ea typeface="Geist" pitchFamily="34" charset="-122"/>
                <a:cs typeface="Geist" pitchFamily="34" charset="-120"/>
              </a:rPr>
              <a:t>Evergreen · IT Service · Practitioner · Floor, no usable signal</a:t>
            </a:r>
            <a:endParaRPr lang="en-US" sz="1050" dirty="0"/>
          </a:p>
          <a:p>
            <a:pPr indent="0" marL="0">
              <a:lnSpc>
                <a:spcPct val="105000"/>
              </a:lnSpc>
              <a:buNone/>
            </a:pPr>
            <a:r>
              <a:rPr lang="en-US" sz="400" dirty="0">
                <a:solidFill>
                  <a:srgbClr val="403D3D"/>
                </a:solidFill>
                <a:latin typeface="Geist" pitchFamily="34" charset="0"/>
                <a:ea typeface="Geist" pitchFamily="34" charset="-122"/>
                <a:cs typeface="Geist" pitchFamily="34" charset="-120"/>
              </a:rPr>
              <a:t> </a:t>
            </a:r>
            <a:endParaRPr lang="en-US" sz="1050" dirty="0"/>
          </a:p>
          <a:p>
            <a:pPr indent="0" marL="0">
              <a:lnSpc>
                <a:spcPct val="105000"/>
              </a:lnSpc>
              <a:buNone/>
            </a:pPr>
            <a:r>
              <a:rPr lang="en-US" sz="1050" b="1" dirty="0">
                <a:solidFill>
                  <a:srgbClr val="403D3D"/>
                </a:solidFill>
                <a:latin typeface="Geist" pitchFamily="34" charset="0"/>
                <a:ea typeface="Geist" pitchFamily="34" charset="-122"/>
                <a:cs typeface="Geist" pitchFamily="34" charset="-120"/>
              </a:rPr>
              <a:t>Subject: L1 tickets in Slack</a:t>
            </a: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Hi Wesley,</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Most IT teams at companies the size of Anvil People Group spend a big share of the week on resets and access requests.</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Athena handles resets, unlocks and access requests in Slack, runs them as the person who asked, and logs every action.</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Is this on your radar this year?</a:t>
            </a:r>
            <a:endParaRPr lang="en-US" sz="1050" dirty="0"/>
          </a:p>
          <a:p>
            <a:pPr indent="0" marL="0">
              <a:lnSpc>
                <a:spcPct val="105000"/>
              </a:lnSpc>
              <a:buNone/>
            </a:pP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Jordan Ellis</a:t>
            </a:r>
            <a:endParaRPr lang="en-US" sz="1050" dirty="0"/>
          </a:p>
        </p:txBody>
      </p:sp>
      <p:sp>
        <p:nvSpPr>
          <p:cNvPr id="10" name="Shape 8"/>
          <p:cNvSpPr/>
          <p:nvPr/>
        </p:nvSpPr>
        <p:spPr>
          <a:xfrm>
            <a:off x="8127797" y="1371600"/>
            <a:ext cx="3515258" cy="4892040"/>
          </a:xfrm>
          <a:prstGeom prst="roundRect">
            <a:avLst>
              <a:gd name="adj" fmla="val 3121"/>
            </a:avLst>
          </a:prstGeom>
          <a:solidFill>
            <a:srgbClr val="FFFFFF"/>
          </a:solidFill>
          <a:ln w="12700">
            <a:solidFill>
              <a:srgbClr val="EDEDED"/>
            </a:solidFill>
            <a:prstDash val="solid"/>
          </a:ln>
        </p:spPr>
      </p:sp>
      <p:sp>
        <p:nvSpPr>
          <p:cNvPr id="11" name="Text 9"/>
          <p:cNvSpPr/>
          <p:nvPr/>
        </p:nvSpPr>
        <p:spPr>
          <a:xfrm>
            <a:off x="8292389" y="1499616"/>
            <a:ext cx="3186074" cy="4636008"/>
          </a:xfrm>
          <a:prstGeom prst="rect">
            <a:avLst/>
          </a:prstGeom>
          <a:noFill/>
          <a:ln/>
        </p:spPr>
        <p:txBody>
          <a:bodyPr wrap="square" lIns="0" tIns="0" rIns="0" bIns="0" rtlCol="0" anchor="t"/>
          <a:lstStyle/>
          <a:p>
            <a:pPr indent="0" marL="0">
              <a:lnSpc>
                <a:spcPct val="105000"/>
              </a:lnSpc>
              <a:buNone/>
            </a:pPr>
            <a:r>
              <a:rPr lang="en-US" sz="1250" b="1" dirty="0">
                <a:solidFill>
                  <a:srgbClr val="262525"/>
                </a:solidFill>
                <a:latin typeface="Geist" pitchFamily="34" charset="0"/>
                <a:ea typeface="Geist" pitchFamily="34" charset="-122"/>
                <a:cs typeface="Geist" pitchFamily="34" charset="-120"/>
              </a:rPr>
              <a:t>9. Jamal Halloran</a:t>
            </a:r>
            <a:endParaRPr lang="en-US" sz="1050" dirty="0"/>
          </a:p>
          <a:p>
            <a:pPr indent="0" marL="0">
              <a:lnSpc>
                <a:spcPct val="105000"/>
              </a:lnSpc>
              <a:buNone/>
            </a:pPr>
            <a:r>
              <a:rPr lang="en-US" sz="1050" dirty="0">
                <a:solidFill>
                  <a:srgbClr val="7B7574"/>
                </a:solidFill>
                <a:latin typeface="Geist" pitchFamily="34" charset="0"/>
                <a:ea typeface="Geist" pitchFamily="34" charset="-122"/>
                <a:cs typeface="Geist" pitchFamily="34" charset="-120"/>
              </a:rPr>
              <a:t>Senior Director, Talent · Caldera Software</a:t>
            </a:r>
            <a:endParaRPr lang="en-US" sz="1050" dirty="0"/>
          </a:p>
          <a:p>
            <a:pPr indent="0" marL="0">
              <a:lnSpc>
                <a:spcPct val="105000"/>
              </a:lnSpc>
              <a:buNone/>
            </a:pPr>
            <a:r>
              <a:rPr lang="en-US" sz="1050" i="1" dirty="0">
                <a:solidFill>
                  <a:srgbClr val="7B7574"/>
                </a:solidFill>
                <a:latin typeface="Geist" pitchFamily="34" charset="0"/>
                <a:ea typeface="Geist" pitchFamily="34" charset="-122"/>
                <a:cs typeface="Geist" pitchFamily="34" charset="-120"/>
              </a:rPr>
              <a:t>Suppressed: restructuring hold</a:t>
            </a:r>
            <a:endParaRPr lang="en-US" sz="1050" dirty="0"/>
          </a:p>
          <a:p>
            <a:pPr indent="0" marL="0">
              <a:lnSpc>
                <a:spcPct val="105000"/>
              </a:lnSpc>
              <a:buNone/>
            </a:pPr>
            <a:r>
              <a:rPr lang="en-US" sz="400" dirty="0">
                <a:solidFill>
                  <a:srgbClr val="403D3D"/>
                </a:solidFill>
                <a:latin typeface="Geist" pitchFamily="34" charset="0"/>
                <a:ea typeface="Geist" pitchFamily="34" charset="-122"/>
                <a:cs typeface="Geist" pitchFamily="34" charset="-120"/>
              </a:rPr>
              <a:t> </a:t>
            </a:r>
            <a:endParaRPr lang="en-US" sz="1050" dirty="0"/>
          </a:p>
          <a:p>
            <a:pPr indent="0" marL="0">
              <a:lnSpc>
                <a:spcPct val="105000"/>
              </a:lnSpc>
              <a:buNone/>
            </a:pPr>
            <a:r>
              <a:rPr lang="en-US" sz="1050" dirty="0">
                <a:solidFill>
                  <a:srgbClr val="403D3D"/>
                </a:solidFill>
                <a:latin typeface="Geist" pitchFamily="34" charset="0"/>
                <a:ea typeface="Geist" pitchFamily="34" charset="-122"/>
                <a:cs typeface="Geist" pitchFamily="34" charset="-120"/>
              </a:rPr>
              <a:t>Caldera Software announced a restructuring on 2026-06-15. An email about handling more work without new hires, that soon after a headcount reduction, would read badly, so every contact there is held. Instead: the hold carries a recheck date of 2026-09-13, 90 days after the announcement. Lifting it is a person's call, not the router's, so every contact there stays suppressed until someone re-checks the company.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What runs on its own, and the five things that need a person</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7</a:t>
            </a:r>
            <a:endParaRPr lang="en-US" sz="900" dirty="0"/>
          </a:p>
        </p:txBody>
      </p:sp>
      <p:sp>
        <p:nvSpPr>
          <p:cNvPr id="6" name="Shape 4"/>
          <p:cNvSpPr/>
          <p:nvPr/>
        </p:nvSpPr>
        <p:spPr>
          <a:xfrm>
            <a:off x="548640" y="1371600"/>
            <a:ext cx="5364328" cy="4160520"/>
          </a:xfrm>
          <a:prstGeom prst="roundRect">
            <a:avLst>
              <a:gd name="adj" fmla="val 2637"/>
            </a:avLst>
          </a:prstGeom>
          <a:solidFill>
            <a:srgbClr val="FFFFFF"/>
          </a:solidFill>
          <a:ln w="12700">
            <a:solidFill>
              <a:srgbClr val="EDEDED"/>
            </a:solidFill>
            <a:prstDash val="solid"/>
          </a:ln>
        </p:spPr>
      </p:sp>
      <p:sp>
        <p:nvSpPr>
          <p:cNvPr id="7" name="Text 5"/>
          <p:cNvSpPr/>
          <p:nvPr/>
        </p:nvSpPr>
        <p:spPr>
          <a:xfrm>
            <a:off x="777240" y="1508760"/>
            <a:ext cx="4907128" cy="411480"/>
          </a:xfrm>
          <a:prstGeom prst="rect">
            <a:avLst/>
          </a:prstGeom>
          <a:noFill/>
          <a:ln/>
        </p:spPr>
        <p:txBody>
          <a:bodyPr wrap="square" lIns="0" tIns="0" rIns="0" bIns="0" rtlCol="0" anchor="ctr"/>
          <a:lstStyle/>
          <a:p>
            <a:pPr indent="0" marL="0">
              <a:buNone/>
            </a:pPr>
            <a:r>
              <a:rPr lang="en-US" sz="1900" dirty="0">
                <a:solidFill>
                  <a:srgbClr val="262525"/>
                </a:solidFill>
                <a:latin typeface="Source Serif 4" pitchFamily="34" charset="0"/>
                <a:ea typeface="Source Serif 4" pitchFamily="34" charset="-122"/>
                <a:cs typeface="Source Serif 4" pitchFamily="34" charset="-120"/>
              </a:rPr>
              <a:t>Runs on its own</a:t>
            </a:r>
            <a:endParaRPr lang="en-US" sz="1900" dirty="0"/>
          </a:p>
        </p:txBody>
      </p:sp>
      <p:sp>
        <p:nvSpPr>
          <p:cNvPr id="8" name="Text 6"/>
          <p:cNvSpPr/>
          <p:nvPr/>
        </p:nvSpPr>
        <p:spPr>
          <a:xfrm>
            <a:off x="777240" y="2057400"/>
            <a:ext cx="4907128" cy="338328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Suppress. </a:t>
            </a:r>
            <a:pPr indent="0" marL="0">
              <a:spcAft>
                <a:spcPts val="700"/>
              </a:spcAft>
              <a:buNone/>
            </a:pPr>
            <a:r>
              <a:rPr lang="en-US" sz="1250" dirty="0">
                <a:solidFill>
                  <a:srgbClr val="403D3D"/>
                </a:solidFill>
                <a:latin typeface="Geist" pitchFamily="34" charset="0"/>
                <a:ea typeface="Geist" pitchFamily="34" charset="-122"/>
                <a:cs typeface="Geist" pitchFamily="34" charset="-120"/>
              </a:rPr>
              <a:t>No email, outside the buyer set, restructuring hold, shadowed ICs.</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Route. </a:t>
            </a:r>
            <a:pPr indent="0" marL="0">
              <a:spcAft>
                <a:spcPts val="700"/>
              </a:spcAft>
              <a:buNone/>
            </a:pPr>
            <a:r>
              <a:rPr lang="en-US" sz="1250" dirty="0">
                <a:solidFill>
                  <a:srgbClr val="403D3D"/>
                </a:solidFill>
                <a:latin typeface="Geist" pitchFamily="34" charset="0"/>
                <a:ea typeface="Geist" pitchFamily="34" charset="-122"/>
                <a:cs typeface="Geist" pitchFamily="34" charset="-120"/>
              </a:rPr>
              <a:t>Campaign from the trigger, angle from the department, band from seniority, lead signal from the fallback ladder.</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Render. </a:t>
            </a:r>
            <a:pPr indent="0" marL="0">
              <a:spcAft>
                <a:spcPts val="700"/>
              </a:spcAft>
              <a:buNone/>
            </a:pPr>
            <a:r>
              <a:rPr lang="en-US" sz="1250" dirty="0">
                <a:solidFill>
                  <a:srgbClr val="403D3D"/>
                </a:solidFill>
                <a:latin typeface="Geist" pitchFamily="34" charset="0"/>
                <a:ea typeface="Geist" pitchFamily="34" charset="-122"/>
                <a:cs typeface="Geist" pitchFamily="34" charset="-120"/>
              </a:rPr>
              <a:t>Every email from approved snippets only, then the render checks. A failed check holds the contact.</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Send. </a:t>
            </a:r>
            <a:pPr indent="0" marL="0">
              <a:spcAft>
                <a:spcPts val="700"/>
              </a:spcAft>
              <a:buNone/>
            </a:pPr>
            <a:r>
              <a:rPr lang="en-US" sz="1250" dirty="0">
                <a:solidFill>
                  <a:srgbClr val="403D3D"/>
                </a:solidFill>
                <a:latin typeface="Geist" pitchFamily="34" charset="0"/>
                <a:ea typeface="Geist" pitchFamily="34" charset="-122"/>
                <a:cs typeface="Geist" pitchFamily="34" charset="-120"/>
              </a:rPr>
              <a:t>Send waves of at most 3 contacts per company, 100 inboxes at 30 a day.</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Guardrail. </a:t>
            </a:r>
            <a:pPr indent="0" marL="0">
              <a:spcAft>
                <a:spcPts val="700"/>
              </a:spcAft>
              <a:buNone/>
            </a:pPr>
            <a:r>
              <a:rPr lang="en-US" sz="1250" dirty="0">
                <a:solidFill>
                  <a:srgbClr val="403D3D"/>
                </a:solidFill>
                <a:latin typeface="Geist" pitchFamily="34" charset="0"/>
                <a:ea typeface="Geist" pitchFamily="34" charset="-122"/>
                <a:cs typeface="Geist" pitchFamily="34" charset="-120"/>
              </a:rPr>
              <a:t>Pause a cell at bounce above 3% or unsubscribe above 2%, once it has 100+ sends.</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Inbox rest. </a:t>
            </a:r>
            <a:pPr indent="0" marL="0">
              <a:spcAft>
                <a:spcPts val="700"/>
              </a:spcAft>
              <a:buNone/>
            </a:pPr>
            <a:r>
              <a:rPr lang="en-US" sz="1250" dirty="0">
                <a:solidFill>
                  <a:srgbClr val="403D3D"/>
                </a:solidFill>
                <a:latin typeface="Geist" pitchFamily="34" charset="0"/>
                <a:ea typeface="Geist" pitchFamily="34" charset="-122"/>
                <a:cs typeface="Geist" pitchFamily="34" charset="-120"/>
              </a:rPr>
              <a:t>Rest an inbox for 7 days at bounce above 3% over its last 50 sends or complaints above 0.3%.</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Reply sort. </a:t>
            </a:r>
            <a:pPr indent="0" marL="0">
              <a:spcAft>
                <a:spcPts val="700"/>
              </a:spcAft>
              <a:buNone/>
            </a:pPr>
            <a:r>
              <a:rPr lang="en-US" sz="1250" dirty="0">
                <a:solidFill>
                  <a:srgbClr val="403D3D"/>
                </a:solidFill>
                <a:latin typeface="Geist" pitchFamily="34" charset="0"/>
                <a:ea typeface="Geist" pitchFamily="34" charset="-122"/>
                <a:cs typeface="Geist" pitchFamily="34" charset="-120"/>
              </a:rPr>
              <a:t>Out-of-office, unsubscribes and bounces are handled automatically; any reply stops the sequence.</a:t>
            </a:r>
            <a:endParaRPr lang="en-US" sz="1250" dirty="0"/>
          </a:p>
        </p:txBody>
      </p:sp>
      <p:sp>
        <p:nvSpPr>
          <p:cNvPr id="9" name="Shape 7"/>
          <p:cNvSpPr/>
          <p:nvPr/>
        </p:nvSpPr>
        <p:spPr>
          <a:xfrm>
            <a:off x="6278728" y="1371600"/>
            <a:ext cx="5364328" cy="4160520"/>
          </a:xfrm>
          <a:prstGeom prst="roundRect">
            <a:avLst>
              <a:gd name="adj" fmla="val 2637"/>
            </a:avLst>
          </a:prstGeom>
          <a:solidFill>
            <a:srgbClr val="FFFFFF"/>
          </a:solidFill>
          <a:ln w="12700">
            <a:solidFill>
              <a:srgbClr val="EDEDED"/>
            </a:solidFill>
            <a:prstDash val="solid"/>
          </a:ln>
        </p:spPr>
      </p:sp>
      <p:sp>
        <p:nvSpPr>
          <p:cNvPr id="10" name="Text 8"/>
          <p:cNvSpPr/>
          <p:nvPr/>
        </p:nvSpPr>
        <p:spPr>
          <a:xfrm>
            <a:off x="6507328" y="1508760"/>
            <a:ext cx="4907128" cy="411480"/>
          </a:xfrm>
          <a:prstGeom prst="rect">
            <a:avLst/>
          </a:prstGeom>
          <a:noFill/>
          <a:ln/>
        </p:spPr>
        <p:txBody>
          <a:bodyPr wrap="square" lIns="0" tIns="0" rIns="0" bIns="0" rtlCol="0" anchor="ctr"/>
          <a:lstStyle/>
          <a:p>
            <a:pPr indent="0" marL="0">
              <a:buNone/>
            </a:pPr>
            <a:r>
              <a:rPr lang="en-US" sz="1900" dirty="0">
                <a:solidFill>
                  <a:srgbClr val="262525"/>
                </a:solidFill>
                <a:latin typeface="Source Serif 4" pitchFamily="34" charset="0"/>
                <a:ea typeface="Source Serif 4" pitchFamily="34" charset="-122"/>
                <a:cs typeface="Source Serif 4" pitchFamily="34" charset="-120"/>
              </a:rPr>
              <a:t>Needs a person</a:t>
            </a:r>
            <a:endParaRPr lang="en-US" sz="1900" dirty="0"/>
          </a:p>
        </p:txBody>
      </p:sp>
      <p:sp>
        <p:nvSpPr>
          <p:cNvPr id="11" name="Text 9"/>
          <p:cNvSpPr/>
          <p:nvPr/>
        </p:nvSpPr>
        <p:spPr>
          <a:xfrm>
            <a:off x="6507328" y="2057400"/>
            <a:ext cx="4907128" cy="338328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Lift a hold. </a:t>
            </a:r>
            <a:pPr indent="0" marL="0">
              <a:spcAft>
                <a:spcPts val="700"/>
              </a:spcAft>
              <a:buNone/>
            </a:pPr>
            <a:r>
              <a:rPr lang="en-US" sz="1250" dirty="0">
                <a:solidFill>
                  <a:srgbClr val="403D3D"/>
                </a:solidFill>
                <a:latin typeface="Geist" pitchFamily="34" charset="0"/>
                <a:ea typeface="Geist" pitchFamily="34" charset="-122"/>
                <a:cs typeface="Geist" pitchFamily="34" charset="-120"/>
              </a:rPr>
              <a:t>Re-check a company on restructuring hold once its 90-day recheck date passes, then lift the hold or keep it.</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Fix a held contact. </a:t>
            </a:r>
            <a:pPr indent="0" marL="0">
              <a:spcAft>
                <a:spcPts val="700"/>
              </a:spcAft>
              <a:buNone/>
            </a:pPr>
            <a:r>
              <a:rPr lang="en-US" sz="1250" dirty="0">
                <a:solidFill>
                  <a:srgbClr val="403D3D"/>
                </a:solidFill>
                <a:latin typeface="Geist" pitchFamily="34" charset="0"/>
                <a:ea typeface="Geist" pitchFamily="34" charset="-122"/>
                <a:cs typeface="Geist" pitchFamily="34" charset="-120"/>
              </a:rPr>
              <a:t>Fix the data or the snippet behind a failed render check, or drop the contact. Nothing held is sent.</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Spot-check. </a:t>
            </a:r>
            <a:pPr indent="0" marL="0">
              <a:spcAft>
                <a:spcPts val="700"/>
              </a:spcAft>
              <a:buNone/>
            </a:pPr>
            <a:r>
              <a:rPr lang="en-US" sz="1250" dirty="0">
                <a:solidFill>
                  <a:srgbClr val="403D3D"/>
                </a:solidFill>
                <a:latin typeface="Geist" pitchFamily="34" charset="0"/>
                <a:ea typeface="Geist" pitchFamily="34" charset="-122"/>
                <a:cs typeface="Geist" pitchFamily="34" charset="-120"/>
              </a:rPr>
              <a:t>Read 5 rendered emails per cell before each send wave. The wave holds until approved.</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Un-pause. </a:t>
            </a:r>
            <a:pPr indent="0" marL="0">
              <a:spcAft>
                <a:spcPts val="700"/>
              </a:spcAft>
              <a:buNone/>
            </a:pPr>
            <a:r>
              <a:rPr lang="en-US" sz="1250" dirty="0">
                <a:solidFill>
                  <a:srgbClr val="403D3D"/>
                </a:solidFill>
                <a:latin typeface="Geist" pitchFamily="34" charset="0"/>
                <a:ea typeface="Geist" pitchFamily="34" charset="-122"/>
                <a:cs typeface="Geist" pitchFamily="34" charset="-120"/>
              </a:rPr>
              <a:t>Look into a paused cell, then restart or stop it.</a:t>
            </a:r>
            <a:endParaRPr lang="en-US" sz="1250" dirty="0"/>
          </a:p>
          <a:p>
            <a:pPr marL="177800" indent="-177800">
              <a:spcAft>
                <a:spcPts val="700"/>
              </a:spcAft>
              <a:buSzPct val="100000"/>
              <a:buChar char="•"/>
            </a:pPr>
            <a:r>
              <a:rPr lang="en-US" sz="1250" b="1" dirty="0">
                <a:solidFill>
                  <a:srgbClr val="262525"/>
                </a:solidFill>
                <a:latin typeface="Geist" pitchFamily="34" charset="0"/>
                <a:ea typeface="Geist" pitchFamily="34" charset="-122"/>
                <a:cs typeface="Geist" pitchFamily="34" charset="-120"/>
              </a:rPr>
              <a:t>Handoff. </a:t>
            </a:r>
            <a:pPr indent="0" marL="0">
              <a:spcAft>
                <a:spcPts val="700"/>
              </a:spcAft>
              <a:buNone/>
            </a:pPr>
            <a:r>
              <a:rPr lang="en-US" sz="1250" dirty="0">
                <a:solidFill>
                  <a:srgbClr val="403D3D"/>
                </a:solidFill>
                <a:latin typeface="Geist" pitchFamily="34" charset="0"/>
                <a:ea typeface="Geist" pitchFamily="34" charset="-122"/>
                <a:cs typeface="Geist" pitchFamily="34" charset="-120"/>
              </a:rPr>
              <a:t>Read every other reply. A positive one goes to the company’s rep, who books the meeting; a referral becomes a new contact; “not now” gets a date to try again.</a:t>
            </a:r>
            <a:endParaRPr lang="en-US" sz="1250" dirty="0"/>
          </a:p>
        </p:txBody>
      </p:sp>
      <p:sp>
        <p:nvSpPr>
          <p:cNvPr id="12" name="Text 10"/>
          <p:cNvSpPr/>
          <p:nvPr/>
        </p:nvSpPr>
        <p:spPr>
          <a:xfrm>
            <a:off x="548640" y="5715000"/>
            <a:ext cx="11094415" cy="365760"/>
          </a:xfrm>
          <a:prstGeom prst="rect">
            <a:avLst/>
          </a:prstGeom>
          <a:noFill/>
          <a:ln/>
        </p:spPr>
        <p:txBody>
          <a:bodyPr wrap="square" lIns="0" tIns="0" rIns="0" bIns="0" rtlCol="0" anchor="t"/>
          <a:lstStyle/>
          <a:p>
            <a:pPr indent="0" marL="0">
              <a:spcAft>
                <a:spcPts val="600"/>
              </a:spcAft>
              <a:buNone/>
            </a:pPr>
            <a:r>
              <a:rPr lang="en-US" sz="1300" b="1" dirty="0">
                <a:solidFill>
                  <a:srgbClr val="262525"/>
                </a:solidFill>
                <a:latin typeface="Geist" pitchFamily="34" charset="0"/>
                <a:ea typeface="Geist" pitchFamily="34" charset="-122"/>
                <a:cs typeface="Geist" pitchFamily="34" charset="-120"/>
              </a:rPr>
              <a:t>Open the dashboard: </a:t>
            </a:r>
            <a:pPr indent="0" marL="0">
              <a:spcAft>
                <a:spcPts val="600"/>
              </a:spcAft>
              <a:buNone/>
            </a:pPr>
            <a:r>
              <a:rPr lang="en-US" sz="1300" u="sng" dirty="0">
                <a:solidFill>
                  <a:srgbClr val="262525"/>
                </a:solidFill>
                <a:latin typeface="Geist" pitchFamily="34" charset="0"/>
                <a:ea typeface="Geist" pitchFamily="34" charset="-122"/>
                <a:cs typeface="Geist"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https://bszl22.github.io/athena-outbound/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Why you can trust code Claude wrote</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8</a:t>
            </a:r>
            <a:endParaRPr lang="en-US" sz="900" dirty="0"/>
          </a:p>
        </p:txBody>
      </p:sp>
      <p:sp>
        <p:nvSpPr>
          <p:cNvPr id="6" name="Shape 4"/>
          <p:cNvSpPr/>
          <p:nvPr/>
        </p:nvSpPr>
        <p:spPr>
          <a:xfrm>
            <a:off x="548640" y="1371600"/>
            <a:ext cx="5364328" cy="4160520"/>
          </a:xfrm>
          <a:prstGeom prst="roundRect">
            <a:avLst>
              <a:gd name="adj" fmla="val 2637"/>
            </a:avLst>
          </a:prstGeom>
          <a:solidFill>
            <a:srgbClr val="FFFFFF"/>
          </a:solidFill>
          <a:ln w="12700">
            <a:solidFill>
              <a:srgbClr val="EDEDED"/>
            </a:solidFill>
            <a:prstDash val="solid"/>
          </a:ln>
        </p:spPr>
      </p:sp>
      <p:sp>
        <p:nvSpPr>
          <p:cNvPr id="7" name="Text 5"/>
          <p:cNvSpPr/>
          <p:nvPr/>
        </p:nvSpPr>
        <p:spPr>
          <a:xfrm>
            <a:off x="777240" y="1508760"/>
            <a:ext cx="4907128" cy="411480"/>
          </a:xfrm>
          <a:prstGeom prst="rect">
            <a:avLst/>
          </a:prstGeom>
          <a:noFill/>
          <a:ln/>
        </p:spPr>
        <p:txBody>
          <a:bodyPr wrap="square" lIns="0" tIns="0" rIns="0" bIns="0" rtlCol="0" anchor="ctr"/>
          <a:lstStyle/>
          <a:p>
            <a:pPr indent="0" marL="0">
              <a:buNone/>
            </a:pPr>
            <a:r>
              <a:rPr lang="en-US" sz="1900" dirty="0">
                <a:solidFill>
                  <a:srgbClr val="262525"/>
                </a:solidFill>
                <a:latin typeface="Source Serif 4" pitchFamily="34" charset="0"/>
                <a:ea typeface="Source Serif 4" pitchFamily="34" charset="-122"/>
                <a:cs typeface="Source Serif 4" pitchFamily="34" charset="-120"/>
              </a:rPr>
              <a:t>Where I decide</a:t>
            </a:r>
            <a:endParaRPr lang="en-US" sz="1900" dirty="0"/>
          </a:p>
        </p:txBody>
      </p:sp>
      <p:sp>
        <p:nvSpPr>
          <p:cNvPr id="8" name="Text 6"/>
          <p:cNvSpPr/>
          <p:nvPr/>
        </p:nvSpPr>
        <p:spPr>
          <a:xfrm>
            <a:off x="777240" y="2057400"/>
            <a:ext cx="4907128" cy="33832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Every design decision was a ticket I settled before any code was written.</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Every sendable sentence is one of 75 snippets I approved and froze, two variants each. No LLM writes anything at send time.</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Nothing is pushed or closed until I say so.</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Each ticket ends with a two-axis code review: our coding standards, and the spec.</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Retros turn each mistake into a check, so it can’t happen twice.</a:t>
            </a:r>
            <a:endParaRPr lang="en-US" sz="1350" dirty="0"/>
          </a:p>
        </p:txBody>
      </p:sp>
      <p:sp>
        <p:nvSpPr>
          <p:cNvPr id="9" name="Shape 7"/>
          <p:cNvSpPr/>
          <p:nvPr/>
        </p:nvSpPr>
        <p:spPr>
          <a:xfrm>
            <a:off x="6278728" y="1371600"/>
            <a:ext cx="5364328" cy="4160520"/>
          </a:xfrm>
          <a:prstGeom prst="roundRect">
            <a:avLst>
              <a:gd name="adj" fmla="val 2637"/>
            </a:avLst>
          </a:prstGeom>
          <a:solidFill>
            <a:srgbClr val="FFFFFF"/>
          </a:solidFill>
          <a:ln w="12700">
            <a:solidFill>
              <a:srgbClr val="EDEDED"/>
            </a:solidFill>
            <a:prstDash val="solid"/>
          </a:ln>
        </p:spPr>
      </p:sp>
      <p:sp>
        <p:nvSpPr>
          <p:cNvPr id="10" name="Text 8"/>
          <p:cNvSpPr/>
          <p:nvPr/>
        </p:nvSpPr>
        <p:spPr>
          <a:xfrm>
            <a:off x="6507328" y="1508760"/>
            <a:ext cx="4907128" cy="411480"/>
          </a:xfrm>
          <a:prstGeom prst="rect">
            <a:avLst/>
          </a:prstGeom>
          <a:noFill/>
          <a:ln/>
        </p:spPr>
        <p:txBody>
          <a:bodyPr wrap="square" lIns="0" tIns="0" rIns="0" bIns="0" rtlCol="0" anchor="ctr"/>
          <a:lstStyle/>
          <a:p>
            <a:pPr indent="0" marL="0">
              <a:buNone/>
            </a:pPr>
            <a:r>
              <a:rPr lang="en-US" sz="1900" dirty="0">
                <a:solidFill>
                  <a:srgbClr val="262525"/>
                </a:solidFill>
                <a:latin typeface="Source Serif 4" pitchFamily="34" charset="0"/>
                <a:ea typeface="Source Serif 4" pitchFamily="34" charset="-122"/>
                <a:cs typeface="Source Serif 4" pitchFamily="34" charset="-120"/>
              </a:rPr>
              <a:t>What the machine checks</a:t>
            </a:r>
            <a:endParaRPr lang="en-US" sz="1900" dirty="0"/>
          </a:p>
        </p:txBody>
      </p:sp>
      <p:sp>
        <p:nvSpPr>
          <p:cNvPr id="11" name="Text 9"/>
          <p:cNvSpPr/>
          <p:nvPr/>
        </p:nvSpPr>
        <p:spPr>
          <a:xfrm>
            <a:off x="6507328" y="2057400"/>
            <a:ext cx="4907128" cy="33832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141 tests, 10 of them pinned on the showcase contacts.</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6 render checks on every one of the 1,248 emails (416 sequences × 3 steps); 0 contacts held today. A held contact is reported, never sent.</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CI fails if a committed output is stale against the code.</a:t>
            </a:r>
            <a:endParaRPr lang="en-US" sz="1350" dirty="0"/>
          </a:p>
          <a:p>
            <a:pPr marL="177800" indent="-177800">
              <a:spcAft>
                <a:spcPts val="800"/>
              </a:spcAft>
              <a:buSzPct val="100000"/>
              <a:buChar char="•"/>
            </a:pPr>
            <a:r>
              <a:rPr lang="en-US" sz="1350" dirty="0">
                <a:solidFill>
                  <a:srgbClr val="403D3D"/>
                </a:solidFill>
                <a:latin typeface="Geist" pitchFamily="34" charset="0"/>
                <a:ea typeface="Geist" pitchFamily="34" charset="-122"/>
                <a:cs typeface="Geist" pitchFamily="34" charset="-120"/>
              </a:rPr>
              <a:t>The public repo gets only what an allowlist names, and the export runs a leak check first.</a:t>
            </a:r>
            <a:endParaRPr lang="en-US" sz="1350" dirty="0"/>
          </a:p>
        </p:txBody>
      </p:sp>
      <p:sp>
        <p:nvSpPr>
          <p:cNvPr id="12" name="Text 10"/>
          <p:cNvSpPr/>
          <p:nvPr/>
        </p:nvSpPr>
        <p:spPr>
          <a:xfrm>
            <a:off x="548640" y="5715000"/>
            <a:ext cx="11094415" cy="502920"/>
          </a:xfrm>
          <a:prstGeom prst="rect">
            <a:avLst/>
          </a:prstGeom>
          <a:noFill/>
          <a:ln/>
        </p:spPr>
        <p:txBody>
          <a:bodyPr wrap="square" lIns="0" tIns="0" rIns="0" bIns="0" rtlCol="0" anchor="t"/>
          <a:lstStyle/>
          <a:p>
            <a:pPr indent="0" marL="0">
              <a:spcAft>
                <a:spcPts val="600"/>
              </a:spcAft>
              <a:buNone/>
            </a:pPr>
            <a:r>
              <a:rPr lang="en-US" sz="1300" i="1" dirty="0">
                <a:solidFill>
                  <a:srgbClr val="262525"/>
                </a:solidFill>
                <a:latin typeface="Geist" pitchFamily="34" charset="0"/>
                <a:ea typeface="Geist" pitchFamily="34" charset="-122"/>
                <a:cs typeface="Geist" pitchFamily="34" charset="-120"/>
              </a:rPr>
              <a:t>Claude wrote the code under my direction. I made every decision, approved every sendable sentence, and verified it with the checks on slide 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What I’d do next</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9</a:t>
            </a:r>
            <a:endParaRPr lang="en-US" sz="900" dirty="0"/>
          </a:p>
        </p:txBody>
      </p:sp>
      <p:sp>
        <p:nvSpPr>
          <p:cNvPr id="6" name="Text 4"/>
          <p:cNvSpPr/>
          <p:nvPr/>
        </p:nvSpPr>
        <p:spPr>
          <a:xfrm>
            <a:off x="548640" y="1417320"/>
            <a:ext cx="11094415" cy="4846320"/>
          </a:xfrm>
          <a:prstGeom prst="rect">
            <a:avLst/>
          </a:prstGeom>
          <a:noFill/>
          <a:ln/>
        </p:spPr>
        <p:txBody>
          <a:bodyPr wrap="square" lIns="0" tIns="0" rIns="0" bIns="0" rtlCol="0" anchor="t"/>
          <a:lstStyle/>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Put it in the real stack: Clay → this logic → Smartlead/Instantly. Clay enriches and verifies each address, this logic routes and renders, and the sender handles inboxes and warm-up.</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Swap the invented rates for real replies after the first send wave, then retire the snippet variant that loses in each pair.</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Find a live reason to write for the 207 Evergreen contacts, so fewer emails start from the floor.</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Re-check the 19 contacts on restructuring hold by hand, company by company.</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The five skeletons, and the snippets that fill them</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A1</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2286000"/>
        </p:xfrm>
        <a:graphic>
          <a:graphicData uri="http://schemas.openxmlformats.org/drawingml/2006/table">
            <a:tbl>
              <a:tblPr/>
              <a:tblGrid>
                <a:gridCol w="1645920"/>
                <a:gridCol w="5029200"/>
                <a:gridCol w="4416552"/>
              </a:tblGrid>
              <a:tr h="381000">
                <a:tc>
                  <a:txBody>
                    <a:bodyPr/>
                    <a:lstStyle/>
                    <a:p>
                      <a:pPr algn="l" indent="0" marL="0">
                        <a:buNone/>
                      </a:pPr>
                      <a:r>
                        <a:rPr lang="en-US" sz="1100" b="1" dirty="0">
                          <a:solidFill>
                            <a:srgbClr val="262525"/>
                          </a:solidFill>
                          <a:latin typeface="Geist" pitchFamily="34" charset="0"/>
                          <a:ea typeface="Geist" pitchFamily="34" charset="-122"/>
                          <a:cs typeface="Geist" pitchFamily="34" charset="-120"/>
                        </a:rPr>
                        <a:t>Skeleton</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100" b="1" dirty="0">
                          <a:solidFill>
                            <a:srgbClr val="262525"/>
                          </a:solidFill>
                          <a:latin typeface="Geist" pitchFamily="34" charset="0"/>
                          <a:ea typeface="Geist" pitchFamily="34" charset="-122"/>
                          <a:cs typeface="Geist" pitchFamily="34" charset="-120"/>
                        </a:rPr>
                        <a:t>Used when</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100" b="1" dirty="0">
                          <a:solidFill>
                            <a:srgbClr val="262525"/>
                          </a:solidFill>
                          <a:latin typeface="Geist" pitchFamily="34" charset="0"/>
                          <a:ea typeface="Geist" pitchFamily="34" charset="-122"/>
                          <a:cs typeface="Geist" pitchFamily="34" charset="-120"/>
                        </a:rPr>
                        <a:t>Body</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381000">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Trigger</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First touch: the company has a recent trigger, such as funding or a new office</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{trigger} {bridge} → {mechanism} {support} {proof} → {cta}</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381000">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Lead line</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First touch: no trigger, but a usable company fact: system of record, AI maturity or headcount trajectory</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{lead} {bridge} → {mechanism} {support} {proof} → {cta}</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381000">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Floor</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First touch: no usable signal at all. No bridge, supporting line or proof line</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{floor} → {mechanism} → {cta}</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381000">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Step 2: follow-up</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Day 3, a reply in the same thread</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{example} → {followup_cta}</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381000">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Step 3: closing note</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Day 8, a reply in the same thread</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00" dirty="0">
                          <a:solidFill>
                            <a:srgbClr val="403D3D"/>
                          </a:solidFill>
                          <a:latin typeface="Geist" pitchFamily="34" charset="0"/>
                          <a:ea typeface="Geist" pitchFamily="34" charset="-122"/>
                          <a:cs typeface="Geist" pitchFamily="34" charset="-120"/>
                        </a:rPr>
                        <a:t>{closing}</a:t>
                      </a:r>
                      <a:endParaRPr lang="en-US" sz="11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
        <p:nvSpPr>
          <p:cNvPr id="7" name="Text 4"/>
          <p:cNvSpPr/>
          <p:nvPr/>
        </p:nvSpPr>
        <p:spPr>
          <a:xfrm>
            <a:off x="548640" y="4069080"/>
            <a:ext cx="11094415" cy="320040"/>
          </a:xfrm>
          <a:prstGeom prst="rect">
            <a:avLst/>
          </a:prstGeom>
          <a:noFill/>
          <a:ln/>
        </p:spPr>
        <p:txBody>
          <a:bodyPr wrap="square" lIns="0" tIns="0" rIns="0" bIns="0" rtlCol="0" anchor="ctr"/>
          <a:lstStyle/>
          <a:p>
            <a:pPr indent="0" marL="0">
              <a:buNone/>
            </a:pPr>
            <a:r>
              <a:rPr lang="en-US" sz="1500" dirty="0">
                <a:solidFill>
                  <a:srgbClr val="262525"/>
                </a:solidFill>
                <a:latin typeface="Source Serif 4" pitchFamily="34" charset="0"/>
                <a:ea typeface="Source Serif 4" pitchFamily="34" charset="-122"/>
                <a:cs typeface="Source Serif 4" pitchFamily="34" charset="-120"/>
              </a:rPr>
              <a:t>Snippet groups</a:t>
            </a:r>
            <a:endParaRPr lang="en-US" sz="1500" dirty="0"/>
          </a:p>
        </p:txBody>
      </p:sp>
      <p:sp>
        <p:nvSpPr>
          <p:cNvPr id="8" name="Text 5"/>
          <p:cNvSpPr/>
          <p:nvPr/>
        </p:nvSpPr>
        <p:spPr>
          <a:xfrm>
            <a:off x="548640" y="4434840"/>
            <a:ext cx="5364328" cy="1280160"/>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Subject: </a:t>
            </a:r>
            <a:pPr indent="0" marL="0">
              <a:spcAft>
                <a:spcPts val="400"/>
              </a:spcAft>
              <a:buNone/>
            </a:pPr>
            <a:r>
              <a:rPr lang="en-US" sz="1100" dirty="0">
                <a:solidFill>
                  <a:srgbClr val="403D3D"/>
                </a:solidFill>
                <a:latin typeface="Geist" pitchFamily="34" charset="0"/>
                <a:ea typeface="Geist" pitchFamily="34" charset="-122"/>
                <a:cs typeface="Geist" pitchFamily="34" charset="-120"/>
              </a:rPr>
              <a:t>one per angle.</a:t>
            </a:r>
            <a:endParaRPr lang="en-US" sz="1100" dirty="0"/>
          </a:p>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Trigger line: </a:t>
            </a:r>
            <a:pPr indent="0" marL="0">
              <a:spcAft>
                <a:spcPts val="400"/>
              </a:spcAft>
              <a:buNone/>
            </a:pPr>
            <a:r>
              <a:rPr lang="en-US" sz="1100" dirty="0">
                <a:solidFill>
                  <a:srgbClr val="403D3D"/>
                </a:solidFill>
                <a:latin typeface="Geist" pitchFamily="34" charset="0"/>
                <a:ea typeface="Geist" pitchFamily="34" charset="-122"/>
                <a:cs typeface="Geist" pitchFamily="34" charset="-120"/>
              </a:rPr>
              <a:t>one per trigger sub-type, such as a funding round, a new US office or a new Chief AI Officer.</a:t>
            </a:r>
            <a:endParaRPr lang="en-US" sz="1100" dirty="0"/>
          </a:p>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Bridge: </a:t>
            </a:r>
            <a:pPr indent="0" marL="0">
              <a:spcAft>
                <a:spcPts val="400"/>
              </a:spcAft>
              <a:buNone/>
            </a:pPr>
            <a:r>
              <a:rPr lang="en-US" sz="1100" dirty="0">
                <a:solidFill>
                  <a:srgbClr val="403D3D"/>
                </a:solidFill>
                <a:latin typeface="Geist" pitchFamily="34" charset="0"/>
                <a:ea typeface="Geist" pitchFamily="34" charset="-122"/>
                <a:cs typeface="Geist" pitchFamily="34" charset="-120"/>
              </a:rPr>
              <a:t>links the campaign’s why now to the angle’s pain, one per campaign × angle.</a:t>
            </a:r>
            <a:endParaRPr lang="en-US" sz="1100" dirty="0"/>
          </a:p>
        </p:txBody>
      </p:sp>
      <p:sp>
        <p:nvSpPr>
          <p:cNvPr id="9" name="Text 6"/>
          <p:cNvSpPr/>
          <p:nvPr/>
        </p:nvSpPr>
        <p:spPr>
          <a:xfrm>
            <a:off x="6278728" y="4434840"/>
            <a:ext cx="5364328" cy="1280160"/>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Lead line and supporting line: </a:t>
            </a:r>
            <a:pPr indent="0" marL="0">
              <a:spcAft>
                <a:spcPts val="400"/>
              </a:spcAft>
              <a:buNone/>
            </a:pPr>
            <a:r>
              <a:rPr lang="en-US" sz="1100" dirty="0">
                <a:solidFill>
                  <a:srgbClr val="403D3D"/>
                </a:solidFill>
                <a:latin typeface="Geist" pitchFamily="34" charset="0"/>
                <a:ea typeface="Geist" pitchFamily="34" charset="-122"/>
                <a:cs typeface="Geist" pitchFamily="34" charset="-120"/>
              </a:rPr>
              <a:t>a fact about the company from its system of record, AI maturity or headcount trajectory.</a:t>
            </a:r>
            <a:endParaRPr lang="en-US" sz="1100" dirty="0"/>
          </a:p>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Mechanism line: </a:t>
            </a:r>
            <a:pPr indent="0" marL="0">
              <a:spcAft>
                <a:spcPts val="400"/>
              </a:spcAft>
              <a:buNone/>
            </a:pPr>
            <a:r>
              <a:rPr lang="en-US" sz="1100" dirty="0">
                <a:solidFill>
                  <a:srgbClr val="403D3D"/>
                </a:solidFill>
                <a:latin typeface="Geist" pitchFamily="34" charset="0"/>
                <a:ea typeface="Geist" pitchFamily="34" charset="-122"/>
                <a:cs typeface="Geist" pitchFamily="34" charset="-120"/>
              </a:rPr>
              <a:t>what Athena does, one per angle × band.</a:t>
            </a:r>
            <a:endParaRPr lang="en-US" sz="1100" dirty="0"/>
          </a:p>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Proof line: </a:t>
            </a:r>
            <a:pPr indent="0" marL="0">
              <a:spcAft>
                <a:spcPts val="400"/>
              </a:spcAft>
              <a:buNone/>
            </a:pPr>
            <a:r>
              <a:rPr lang="en-US" sz="1100" dirty="0">
                <a:solidFill>
                  <a:srgbClr val="403D3D"/>
                </a:solidFill>
                <a:latin typeface="Geist" pitchFamily="34" charset="0"/>
                <a:ea typeface="Geist" pitchFamily="34" charset="-122"/>
                <a:cs typeface="Geist" pitchFamily="34" charset="-120"/>
              </a:rPr>
              <a:t>practitioners get the “up to 80%” figure, execs get the investor line.</a:t>
            </a:r>
            <a:endParaRPr lang="en-US" sz="1100" dirty="0"/>
          </a:p>
          <a:p>
            <a:pPr marL="177800" indent="-177800">
              <a:spcAft>
                <a:spcPts val="400"/>
              </a:spcAft>
              <a:buSzPct val="100000"/>
              <a:buChar char="•"/>
            </a:pPr>
            <a:r>
              <a:rPr lang="en-US" sz="1100" b="1" dirty="0">
                <a:solidFill>
                  <a:srgbClr val="262525"/>
                </a:solidFill>
                <a:latin typeface="Geist" pitchFamily="34" charset="0"/>
                <a:ea typeface="Geist" pitchFamily="34" charset="-122"/>
                <a:cs typeface="Geist" pitchFamily="34" charset="-120"/>
              </a:rPr>
              <a:t>The rest: </a:t>
            </a:r>
            <a:pPr indent="0" marL="0">
              <a:spcAft>
                <a:spcPts val="400"/>
              </a:spcAft>
              <a:buNone/>
            </a:pPr>
            <a:r>
              <a:rPr lang="en-US" sz="1100" dirty="0">
                <a:solidFill>
                  <a:srgbClr val="403D3D"/>
                </a:solidFill>
                <a:latin typeface="Geist" pitchFamily="34" charset="0"/>
                <a:ea typeface="Geist" pitchFamily="34" charset="-122"/>
                <a:cs typeface="Geist" pitchFamily="34" charset="-120"/>
              </a:rPr>
              <a:t>the floor opener, the CTAs, and the step 2 and step 3 lines.</a:t>
            </a:r>
            <a:endParaRPr lang="en-US" sz="1100" dirty="0"/>
          </a:p>
        </p:txBody>
      </p:sp>
      <p:sp>
        <p:nvSpPr>
          <p:cNvPr id="10" name="Text 7"/>
          <p:cNvSpPr/>
          <p:nvPr/>
        </p:nvSpPr>
        <p:spPr>
          <a:xfrm>
            <a:off x="548640" y="5852160"/>
            <a:ext cx="11094415" cy="411480"/>
          </a:xfrm>
          <a:prstGeom prst="rect">
            <a:avLst/>
          </a:prstGeom>
          <a:noFill/>
          <a:ln/>
        </p:spPr>
        <p:txBody>
          <a:bodyPr wrap="square" lIns="0" tIns="0" rIns="0" bIns="0" rtlCol="0" anchor="t"/>
          <a:lstStyle/>
          <a:p>
            <a:pPr indent="0" marL="0">
              <a:spcAft>
                <a:spcPts val="600"/>
              </a:spcAft>
              <a:buNone/>
            </a:pPr>
            <a:r>
              <a:rPr lang="en-US" sz="1100" dirty="0">
                <a:solidFill>
                  <a:srgbClr val="7B7574"/>
                </a:solidFill>
                <a:latin typeface="Geist" pitchFamily="34" charset="0"/>
                <a:ea typeface="Geist" pitchFamily="34" charset="-122"/>
                <a:cs typeface="Geist" pitchFamily="34" charset="-120"/>
              </a:rPr>
              <a:t>All five share the same greeting, signature and “Reply ‘no’” opt-out line. Trigger and lead line differ only in the opening sentence; in both, {support} is filled only when the contact has a second usable signal, so there’s never a third.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The sequence, and sending at scale</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A2</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1280160"/>
        </p:xfrm>
        <a:graphic>
          <a:graphicData uri="http://schemas.openxmlformats.org/drawingml/2006/table">
            <a:tbl>
              <a:tblPr/>
              <a:tblGrid>
                <a:gridCol w="640080"/>
                <a:gridCol w="914400"/>
                <a:gridCol w="3383280"/>
                <a:gridCol w="1097280"/>
              </a:tblGrid>
              <a:tr h="320040">
                <a:tc>
                  <a:txBody>
                    <a:bodyPr/>
                    <a:lstStyle/>
                    <a:p>
                      <a:pPr algn="r" indent="0" marL="0">
                        <a:buNone/>
                      </a:pPr>
                      <a:r>
                        <a:rPr lang="en-US" sz="1150" b="1" dirty="0">
                          <a:solidFill>
                            <a:srgbClr val="262525"/>
                          </a:solidFill>
                          <a:latin typeface="Geist" pitchFamily="34" charset="0"/>
                          <a:ea typeface="Geist" pitchFamily="34" charset="-122"/>
                          <a:cs typeface="Geist" pitchFamily="34" charset="-120"/>
                        </a:rPr>
                        <a:t>Step</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150" b="1" dirty="0">
                          <a:solidFill>
                            <a:srgbClr val="262525"/>
                          </a:solidFill>
                          <a:latin typeface="Geist" pitchFamily="34" charset="0"/>
                          <a:ea typeface="Geist" pitchFamily="34" charset="-122"/>
                          <a:cs typeface="Geist" pitchFamily="34" charset="-120"/>
                        </a:rPr>
                        <a:t>When</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150" b="1" dirty="0">
                          <a:solidFill>
                            <a:srgbClr val="262525"/>
                          </a:solidFill>
                          <a:latin typeface="Geist" pitchFamily="34" charset="0"/>
                          <a:ea typeface="Geist" pitchFamily="34" charset="-122"/>
                          <a:cs typeface="Geist" pitchFamily="34" charset="-120"/>
                        </a:rPr>
                        <a:t>What</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r" indent="0" marL="0">
                        <a:buNone/>
                      </a:pPr>
                      <a:r>
                        <a:rPr lang="en-US" sz="1150" b="1" dirty="0">
                          <a:solidFill>
                            <a:srgbClr val="262525"/>
                          </a:solidFill>
                          <a:latin typeface="Geist" pitchFamily="34" charset="0"/>
                          <a:ea typeface="Geist" pitchFamily="34" charset="-122"/>
                          <a:cs typeface="Geist" pitchFamily="34" charset="-120"/>
                        </a:rPr>
                        <a:t>Word cap</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3200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1</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Day 0</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First touch</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90</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3200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2</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Day 3</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Example line and a smaller ask</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50</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320040">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3</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Day 8</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150" dirty="0">
                          <a:solidFill>
                            <a:srgbClr val="403D3D"/>
                          </a:solidFill>
                          <a:latin typeface="Geist" pitchFamily="34" charset="0"/>
                          <a:ea typeface="Geist" pitchFamily="34" charset="-122"/>
                          <a:cs typeface="Geist" pitchFamily="34" charset="-120"/>
                        </a:rPr>
                        <a:t>Closing note</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r" indent="0" marL="0">
                        <a:buNone/>
                      </a:pPr>
                      <a:r>
                        <a:rPr lang="en-US" sz="1150" dirty="0">
                          <a:solidFill>
                            <a:srgbClr val="403D3D"/>
                          </a:solidFill>
                          <a:latin typeface="Geist" pitchFamily="34" charset="0"/>
                          <a:ea typeface="Geist" pitchFamily="34" charset="-122"/>
                          <a:cs typeface="Geist" pitchFamily="34" charset="-120"/>
                        </a:rPr>
                        <a:t>30</a:t>
                      </a:r>
                      <a:endParaRPr lang="en-US" sz="115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
        <p:nvSpPr>
          <p:cNvPr id="7" name="Text 4"/>
          <p:cNvSpPr/>
          <p:nvPr/>
        </p:nvSpPr>
        <p:spPr>
          <a:xfrm>
            <a:off x="548640" y="2788920"/>
            <a:ext cx="6035040" cy="3429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403D3D"/>
                </a:solidFill>
                <a:latin typeface="Geist" pitchFamily="34" charset="0"/>
                <a:ea typeface="Geist" pitchFamily="34" charset="-122"/>
                <a:cs typeface="Geist" pitchFamily="34" charset="-120"/>
              </a:rPr>
              <a:t>One thread from one inbox. Any reply, bounce or unsubscribe stops it; a positive reply goes to the company’s rep.</a:t>
            </a:r>
            <a:endParaRPr lang="en-US" sz="1150" dirty="0"/>
          </a:p>
          <a:p>
            <a:pPr marL="177800" indent="-177800">
              <a:spcAft>
                <a:spcPts val="500"/>
              </a:spcAft>
              <a:buSzPct val="100000"/>
              <a:buChar char="•"/>
            </a:pPr>
            <a:r>
              <a:rPr lang="en-US" sz="1150" dirty="0">
                <a:solidFill>
                  <a:srgbClr val="403D3D"/>
                </a:solidFill>
                <a:latin typeface="Geist" pitchFamily="34" charset="0"/>
                <a:ea typeface="Geist" pitchFamily="34" charset="-122"/>
                <a:cs typeface="Geist" pitchFamily="34" charset="-120"/>
              </a:rPr>
              <a:t>At most 3 contacts per company per send wave: Exec before Practitioner, then the higher rung first. ICs and all of Evergreen are deprioritised: 219 of the 416 go last in their company.</a:t>
            </a:r>
            <a:endParaRPr lang="en-US" sz="1150" dirty="0"/>
          </a:p>
          <a:p>
            <a:pPr marL="177800" indent="-177800">
              <a:spcAft>
                <a:spcPts val="500"/>
              </a:spcAft>
              <a:buSzPct val="100000"/>
              <a:buChar char="•"/>
            </a:pPr>
            <a:r>
              <a:rPr lang="en-US" sz="1150" dirty="0">
                <a:solidFill>
                  <a:srgbClr val="403D3D"/>
                </a:solidFill>
                <a:latin typeface="Geist" pitchFamily="34" charset="0"/>
                <a:ea typeface="Geist" pitchFamily="34" charset="-122"/>
                <a:cs typeface="Geist" pitchFamily="34" charset="-120"/>
              </a:rPr>
              <a:t>Send wave 1: 266 · Send wave 2: 134 · Send wave 3: 16</a:t>
            </a:r>
            <a:endParaRPr lang="en-US" sz="1150" dirty="0"/>
          </a:p>
          <a:p>
            <a:pPr marL="177800" indent="-177800">
              <a:spcAft>
                <a:spcPts val="500"/>
              </a:spcAft>
              <a:buSzPct val="100000"/>
              <a:buChar char="•"/>
            </a:pPr>
            <a:r>
              <a:rPr lang="en-US" sz="1150" dirty="0">
                <a:solidFill>
                  <a:srgbClr val="403D3D"/>
                </a:solidFill>
                <a:latin typeface="Geist" pitchFamily="34" charset="0"/>
                <a:ea typeface="Geist" pitchFamily="34" charset="-122"/>
                <a:cs typeface="Geist" pitchFamily="34" charset="-120"/>
              </a:rPr>
              <a:t>100 inboxes × 30 a day is 3,000 sends a day, so about 1,000 new contacts start each day.</a:t>
            </a:r>
            <a:endParaRPr lang="en-US" sz="1150" dirty="0"/>
          </a:p>
          <a:p>
            <a:pPr marL="177800" indent="-177800">
              <a:spcAft>
                <a:spcPts val="500"/>
              </a:spcAft>
              <a:buSzPct val="100000"/>
              <a:buChar char="•"/>
            </a:pPr>
            <a:r>
              <a:rPr lang="en-US" sz="1150" dirty="0">
                <a:solidFill>
                  <a:srgbClr val="403D3D"/>
                </a:solidFill>
                <a:latin typeface="Geist" pitchFamily="34" charset="0"/>
                <a:ea typeface="Geist" pitchFamily="34" charset="-122"/>
                <a:cs typeface="Geist" pitchFamily="34" charset="-120"/>
              </a:rPr>
              <a:t>New inboxes warm up for 2 weeks, then ramp 10 → 20 → 30 a day. Plain text, no links in the first touch, open tracking off.</a:t>
            </a:r>
            <a:endParaRPr lang="en-US" sz="1150" dirty="0"/>
          </a:p>
          <a:p>
            <a:pPr marL="177800" indent="-177800">
              <a:spcAft>
                <a:spcPts val="500"/>
              </a:spcAft>
              <a:buSzPct val="100000"/>
              <a:buChar char="•"/>
            </a:pPr>
            <a:r>
              <a:rPr lang="en-US" sz="1150" dirty="0">
                <a:solidFill>
                  <a:srgbClr val="403D3D"/>
                </a:solidFill>
                <a:latin typeface="Geist" pitchFamily="34" charset="0"/>
                <a:ea typeface="Geist" pitchFamily="34" charset="-122"/>
                <a:cs typeface="Geist" pitchFamily="34" charset="-120"/>
              </a:rPr>
              <a:t>The guardrail pauses a cell at bounce above 3% or unsubscribe above 2%; inbox rest pauses a single inbox.</a:t>
            </a:r>
            <a:endParaRPr lang="en-US" sz="1150" dirty="0"/>
          </a:p>
        </p:txBody>
      </p:sp>
      <p:sp>
        <p:nvSpPr>
          <p:cNvPr id="8" name="Shape 5"/>
          <p:cNvSpPr/>
          <p:nvPr/>
        </p:nvSpPr>
        <p:spPr>
          <a:xfrm>
            <a:off x="6903720" y="1371600"/>
            <a:ext cx="4739335" cy="2286000"/>
          </a:xfrm>
          <a:prstGeom prst="roundRect">
            <a:avLst>
              <a:gd name="adj" fmla="val 4800"/>
            </a:avLst>
          </a:prstGeom>
          <a:solidFill>
            <a:srgbClr val="FFFFFF"/>
          </a:solidFill>
          <a:ln w="12700">
            <a:solidFill>
              <a:srgbClr val="EDEDED"/>
            </a:solidFill>
            <a:prstDash val="solid"/>
          </a:ln>
        </p:spPr>
      </p:sp>
      <p:sp>
        <p:nvSpPr>
          <p:cNvPr id="9" name="Text 6"/>
          <p:cNvSpPr/>
          <p:nvPr/>
        </p:nvSpPr>
        <p:spPr>
          <a:xfrm>
            <a:off x="7068312" y="1499616"/>
            <a:ext cx="4410151" cy="2029968"/>
          </a:xfrm>
          <a:prstGeom prst="rect">
            <a:avLst/>
          </a:prstGeom>
          <a:noFill/>
          <a:ln/>
        </p:spPr>
        <p:txBody>
          <a:bodyPr wrap="square" lIns="0" tIns="0" rIns="0" bIns="0" rtlCol="0" anchor="t"/>
          <a:lstStyle/>
          <a:p>
            <a:pPr indent="0" marL="0">
              <a:lnSpc>
                <a:spcPct val="105000"/>
              </a:lnSpc>
              <a:buNone/>
            </a:pPr>
            <a:r>
              <a:rPr lang="en-US" sz="1200" b="1" dirty="0">
                <a:solidFill>
                  <a:srgbClr val="262525"/>
                </a:solidFill>
                <a:latin typeface="Geist" pitchFamily="34" charset="0"/>
                <a:ea typeface="Geist" pitchFamily="34" charset="-122"/>
                <a:cs typeface="Geist" pitchFamily="34" charset="-120"/>
              </a:rPr>
              <a:t>Elena, step 2</a:t>
            </a:r>
            <a:endParaRPr lang="en-US" sz="1000" dirty="0"/>
          </a:p>
          <a:p>
            <a:pPr indent="0" marL="0">
              <a:lnSpc>
                <a:spcPct val="105000"/>
              </a:lnSpc>
              <a:buNone/>
            </a:pPr>
            <a:r>
              <a:rPr lang="en-US" sz="400" dirty="0">
                <a:solidFill>
                  <a:srgbClr val="403D3D"/>
                </a:solidFill>
                <a:latin typeface="Geist" pitchFamily="34" charset="0"/>
                <a:ea typeface="Geist" pitchFamily="34" charset="-122"/>
                <a:cs typeface="Geist" pitchFamily="34" charset="-120"/>
              </a:rPr>
              <a:t> </a:t>
            </a:r>
            <a:endParaRPr lang="en-US" sz="1000" dirty="0"/>
          </a:p>
          <a:p>
            <a:pPr indent="0" marL="0">
              <a:lnSpc>
                <a:spcPct val="105000"/>
              </a:lnSpc>
              <a:buNone/>
            </a:pPr>
            <a:r>
              <a:rPr lang="en-US" sz="1000" b="1" dirty="0">
                <a:solidFill>
                  <a:srgbClr val="403D3D"/>
                </a:solidFill>
                <a:latin typeface="Geist" pitchFamily="34" charset="0"/>
                <a:ea typeface="Geist" pitchFamily="34" charset="-122"/>
                <a:cs typeface="Geist" pitchFamily="34" charset="-120"/>
              </a:rPr>
              <a:t>Subject: Re: employee requests at Halcyon Stack</a:t>
            </a: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Hi Elena,</a:t>
            </a:r>
            <a:endParaRPr lang="en-US" sz="1000" dirty="0"/>
          </a:p>
          <a:p>
            <a:pPr indent="0" marL="0">
              <a:lnSpc>
                <a:spcPct val="105000"/>
              </a:lnSpc>
              <a:buNone/>
            </a:pP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For example, someone asks in Slack how much leave they have left, and Athena checks SuccessFactors, answers, and books the days off if they want them.</a:t>
            </a:r>
            <a:endParaRPr lang="en-US" sz="1000" dirty="0"/>
          </a:p>
          <a:p>
            <a:pPr indent="0" marL="0">
              <a:lnSpc>
                <a:spcPct val="105000"/>
              </a:lnSpc>
              <a:buNone/>
            </a:pP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Should I send a short written walkthrough of how it works?</a:t>
            </a:r>
            <a:endParaRPr lang="en-US" sz="1000" dirty="0"/>
          </a:p>
          <a:p>
            <a:pPr indent="0" marL="0">
              <a:lnSpc>
                <a:spcPct val="105000"/>
              </a:lnSpc>
              <a:buNone/>
            </a:pP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Sam Carter</a:t>
            </a:r>
            <a:endParaRPr lang="en-US" sz="1000" dirty="0"/>
          </a:p>
        </p:txBody>
      </p:sp>
      <p:sp>
        <p:nvSpPr>
          <p:cNvPr id="10" name="Shape 7"/>
          <p:cNvSpPr/>
          <p:nvPr/>
        </p:nvSpPr>
        <p:spPr>
          <a:xfrm>
            <a:off x="6903720" y="3840480"/>
            <a:ext cx="4739335" cy="2286000"/>
          </a:xfrm>
          <a:prstGeom prst="roundRect">
            <a:avLst>
              <a:gd name="adj" fmla="val 4800"/>
            </a:avLst>
          </a:prstGeom>
          <a:solidFill>
            <a:srgbClr val="FFFFFF"/>
          </a:solidFill>
          <a:ln w="12700">
            <a:solidFill>
              <a:srgbClr val="EDEDED"/>
            </a:solidFill>
            <a:prstDash val="solid"/>
          </a:ln>
        </p:spPr>
      </p:sp>
      <p:sp>
        <p:nvSpPr>
          <p:cNvPr id="11" name="Text 8"/>
          <p:cNvSpPr/>
          <p:nvPr/>
        </p:nvSpPr>
        <p:spPr>
          <a:xfrm>
            <a:off x="7068312" y="3968496"/>
            <a:ext cx="4410151" cy="2029968"/>
          </a:xfrm>
          <a:prstGeom prst="rect">
            <a:avLst/>
          </a:prstGeom>
          <a:noFill/>
          <a:ln/>
        </p:spPr>
        <p:txBody>
          <a:bodyPr wrap="square" lIns="0" tIns="0" rIns="0" bIns="0" rtlCol="0" anchor="t"/>
          <a:lstStyle/>
          <a:p>
            <a:pPr indent="0" marL="0">
              <a:lnSpc>
                <a:spcPct val="105000"/>
              </a:lnSpc>
              <a:buNone/>
            </a:pPr>
            <a:r>
              <a:rPr lang="en-US" sz="1200" b="1" dirty="0">
                <a:solidFill>
                  <a:srgbClr val="262525"/>
                </a:solidFill>
                <a:latin typeface="Geist" pitchFamily="34" charset="0"/>
                <a:ea typeface="Geist" pitchFamily="34" charset="-122"/>
                <a:cs typeface="Geist" pitchFamily="34" charset="-120"/>
              </a:rPr>
              <a:t>Elena, step 3</a:t>
            </a:r>
            <a:endParaRPr lang="en-US" sz="1000" dirty="0"/>
          </a:p>
          <a:p>
            <a:pPr indent="0" marL="0">
              <a:lnSpc>
                <a:spcPct val="105000"/>
              </a:lnSpc>
              <a:buNone/>
            </a:pPr>
            <a:r>
              <a:rPr lang="en-US" sz="400" dirty="0">
                <a:solidFill>
                  <a:srgbClr val="403D3D"/>
                </a:solidFill>
                <a:latin typeface="Geist" pitchFamily="34" charset="0"/>
                <a:ea typeface="Geist" pitchFamily="34" charset="-122"/>
                <a:cs typeface="Geist" pitchFamily="34" charset="-120"/>
              </a:rPr>
              <a:t> </a:t>
            </a:r>
            <a:endParaRPr lang="en-US" sz="1000" dirty="0"/>
          </a:p>
          <a:p>
            <a:pPr indent="0" marL="0">
              <a:lnSpc>
                <a:spcPct val="105000"/>
              </a:lnSpc>
              <a:buNone/>
            </a:pPr>
            <a:r>
              <a:rPr lang="en-US" sz="1000" b="1" dirty="0">
                <a:solidFill>
                  <a:srgbClr val="403D3D"/>
                </a:solidFill>
                <a:latin typeface="Geist" pitchFamily="34" charset="0"/>
                <a:ea typeface="Geist" pitchFamily="34" charset="-122"/>
                <a:cs typeface="Geist" pitchFamily="34" charset="-120"/>
              </a:rPr>
              <a:t>Subject: Re: employee requests at Halcyon Stack</a:t>
            </a: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Hi Elena,</a:t>
            </a:r>
            <a:endParaRPr lang="en-US" sz="1000" dirty="0"/>
          </a:p>
          <a:p>
            <a:pPr indent="0" marL="0">
              <a:lnSpc>
                <a:spcPct val="105000"/>
              </a:lnSpc>
              <a:buNone/>
            </a:pP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Last note from me. If employee questions start to take up more of HR's week, reply here any time.</a:t>
            </a:r>
            <a:endParaRPr lang="en-US" sz="1000" dirty="0"/>
          </a:p>
          <a:p>
            <a:pPr indent="0" marL="0">
              <a:lnSpc>
                <a:spcPct val="105000"/>
              </a:lnSpc>
              <a:buNone/>
            </a:pPr>
            <a:endParaRPr lang="en-US" sz="1000" dirty="0"/>
          </a:p>
          <a:p>
            <a:pPr indent="0" marL="0">
              <a:lnSpc>
                <a:spcPct val="105000"/>
              </a:lnSpc>
              <a:buNone/>
            </a:pPr>
            <a:r>
              <a:rPr lang="en-US" sz="1000" dirty="0">
                <a:solidFill>
                  <a:srgbClr val="403D3D"/>
                </a:solidFill>
                <a:latin typeface="Geist" pitchFamily="34" charset="0"/>
                <a:ea typeface="Geist" pitchFamily="34" charset="-122"/>
                <a:cs typeface="Geist" pitchFamily="34" charset="-120"/>
              </a:rPr>
              <a:t>Sam Carter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How I built it</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A3</a:t>
            </a:r>
            <a:endParaRPr lang="en-US" sz="900" dirty="0"/>
          </a:p>
        </p:txBody>
      </p:sp>
      <p:sp>
        <p:nvSpPr>
          <p:cNvPr id="6" name="Text 4"/>
          <p:cNvSpPr/>
          <p:nvPr/>
        </p:nvSpPr>
        <p:spPr>
          <a:xfrm>
            <a:off x="548640" y="1417320"/>
            <a:ext cx="11094415" cy="4846320"/>
          </a:xfrm>
          <a:prstGeom prst="rect">
            <a:avLst/>
          </a:prstGeom>
          <a:noFill/>
          <a:ln/>
        </p:spPr>
        <p:txBody>
          <a:bodyPr wrap="square" lIns="0" tIns="0" rIns="0" bIns="0" rtlCol="0" anchor="t"/>
          <a:lstStyle/>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I profiled the CSV first: 100 companies × 10 contacts, 943 with an email, and the data traps hiding in it.</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I settled each design question as its own ticket: who we don’t email, which signals, the campaigns, the fallback ladder, the copy voice, the sequence, sending volume.</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I prototyped the copy and the dashboard to test the ideas, then threw the prototypes away.</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I froze the copy as 75 snippets in one library, so every email is assembled, not written.</a:t>
            </a:r>
            <a:endParaRPr lang="en-US" sz="1800" dirty="0"/>
          </a:p>
          <a:p>
            <a:pPr marL="177800" indent="-177800">
              <a:spcAft>
                <a:spcPts val="1400"/>
              </a:spcAft>
              <a:buSzPct val="100000"/>
              <a:buChar char="•"/>
            </a:pPr>
            <a:r>
              <a:rPr lang="en-US" sz="1800" dirty="0">
                <a:solidFill>
                  <a:srgbClr val="403D3D"/>
                </a:solidFill>
                <a:latin typeface="Geist" pitchFamily="34" charset="0"/>
                <a:ea typeface="Geist" pitchFamily="34" charset="-122"/>
                <a:cs typeface="Geist" pitchFamily="34" charset="-120"/>
              </a:rPr>
              <a:t>Then I built one deterministic pipeline: the CSV, the snippet library and a pinned as_of date go in, and the same 1,000 routes and emails come out every time.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Assumptions and data traps</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A4</a:t>
            </a:r>
            <a:endParaRPr lang="en-US" sz="900" dirty="0"/>
          </a:p>
        </p:txBody>
      </p:sp>
      <p:sp>
        <p:nvSpPr>
          <p:cNvPr id="6" name="Text 4"/>
          <p:cNvSpPr/>
          <p:nvPr/>
        </p:nvSpPr>
        <p:spPr>
          <a:xfrm>
            <a:off x="548640" y="1417320"/>
            <a:ext cx="11094415" cy="49377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The stack: Clay → this logic → Smartlead/Instantly. Clay isn’t needed here because the CSV is already enriched.</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13 companies ship AI “built on its internal orchestration stack”. I count that as positive AI maturity, and the phrase is never quoted.</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The news headlines are templated and sometimes wrong, so no email uses them.</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3 companies’ growth % disagrees with their headcounts, and some are blank: I work it out from the employee counts.</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tech_stack_raw repeats the structured fields, so I use the structured fields only.</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114 names repeat across companies, so everything keys on contact_id, never on name.</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No trigger is under 90 days old, so the copy refers to them loosely (“earlier this year”), never as news.</a:t>
            </a:r>
            <a:endParaRPr lang="en-US" sz="1500" dirty="0"/>
          </a:p>
          <a:p>
            <a:pPr marL="177800" indent="-177800">
              <a:spcAft>
                <a:spcPts val="900"/>
              </a:spcAft>
              <a:buSzPct val="100000"/>
              <a:buChar char="•"/>
            </a:pPr>
            <a:r>
              <a:rPr lang="en-US" sz="1500" dirty="0">
                <a:solidFill>
                  <a:srgbClr val="403D3D"/>
                </a:solidFill>
                <a:latin typeface="Geist" pitchFamily="34" charset="0"/>
                <a:ea typeface="Geist" pitchFamily="34" charset="-122"/>
                <a:cs typeface="Geist" pitchFamily="34" charset="-120"/>
              </a:rPr>
              <a:t>Reps, the postal address and every simulated rate are placeholders.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94415" cy="685800"/>
          </a:xfrm>
          <a:prstGeom prst="rect">
            <a:avLst/>
          </a:prstGeom>
          <a:noFill/>
          <a:ln/>
        </p:spPr>
        <p:txBody>
          <a:bodyPr wrap="square" lIns="0" tIns="0" rIns="0" bIns="0" rtlCol="0" anchor="b"/>
          <a:lstStyle/>
          <a:p>
            <a:pPr indent="0" marL="0">
              <a:buNone/>
            </a:pPr>
            <a:r>
              <a:rPr lang="en-US" sz="2800" spc="-70" kern="0" dirty="0">
                <a:solidFill>
                  <a:srgbClr val="262525"/>
                </a:solidFill>
                <a:latin typeface="Source Serif 4" pitchFamily="34" charset="0"/>
                <a:ea typeface="Source Serif 4" pitchFamily="34" charset="-122"/>
                <a:cs typeface="Source Serif 4" pitchFamily="34" charset="-120"/>
              </a:rPr>
              <a:t>Brief checklist</a:t>
            </a:r>
            <a:endParaRPr lang="en-US" sz="2800" dirty="0"/>
          </a:p>
        </p:txBody>
      </p:sp>
      <p:sp>
        <p:nvSpPr>
          <p:cNvPr id="3" name="Shape 1"/>
          <p:cNvSpPr/>
          <p:nvPr/>
        </p:nvSpPr>
        <p:spPr>
          <a:xfrm>
            <a:off x="548640" y="1097280"/>
            <a:ext cx="548640" cy="45720"/>
          </a:xfrm>
          <a:prstGeom prst="rect">
            <a:avLst/>
          </a:prstGeom>
          <a:solidFill>
            <a:srgbClr val="FF5000"/>
          </a:solidFill>
          <a:ln/>
        </p:spPr>
      </p:sp>
      <p:sp>
        <p:nvSpPr>
          <p:cNvPr id="4" name="Text 2"/>
          <p:cNvSpPr/>
          <p:nvPr/>
        </p:nvSpPr>
        <p:spPr>
          <a:xfrm>
            <a:off x="548640" y="6446520"/>
            <a:ext cx="10180015" cy="274320"/>
          </a:xfrm>
          <a:prstGeom prst="rect">
            <a:avLst/>
          </a:prstGeom>
          <a:noFill/>
          <a:ln/>
        </p:spPr>
        <p:txBody>
          <a:bodyPr wrap="square" lIns="0" tIns="0" rIns="0" bIns="0" rtlCol="0" anchor="ctr"/>
          <a:lstStyle/>
          <a:p>
            <a:pPr indent="0" marL="0">
              <a:buNone/>
            </a:pPr>
            <a:r>
              <a:rPr lang="en-US" sz="900" dirty="0">
                <a:solidFill>
                  <a:srgbClr val="7B7574"/>
                </a:solidFill>
                <a:latin typeface="Geist" pitchFamily="34" charset="0"/>
                <a:ea typeface="Geist" pitchFamily="34" charset="-122"/>
                <a:cs typeface="Geist" pitchFamily="34" charset="-120"/>
              </a:rPr>
              <a:t>Case study by Bryan Soo · 27 Oct 2026</a:t>
            </a:r>
            <a:endParaRPr lang="en-US" sz="900" dirty="0"/>
          </a:p>
        </p:txBody>
      </p:sp>
      <p:sp>
        <p:nvSpPr>
          <p:cNvPr id="5" name="Text 3"/>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B7574"/>
                </a:solidFill>
                <a:latin typeface="Geist" pitchFamily="34" charset="0"/>
                <a:ea typeface="Geist" pitchFamily="34" charset="-122"/>
                <a:cs typeface="Geist" pitchFamily="34" charset="-120"/>
              </a:rPr>
              <a:t>A5</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3474720"/>
        </p:xfrm>
        <a:graphic>
          <a:graphicData uri="http://schemas.openxmlformats.org/drawingml/2006/table">
            <a:tbl>
              <a:tblPr/>
              <a:tblGrid>
                <a:gridCol w="3291840"/>
                <a:gridCol w="1463040"/>
                <a:gridCol w="6336792"/>
              </a:tblGrid>
              <a:tr h="496389">
                <a:tc>
                  <a:txBody>
                    <a:bodyPr/>
                    <a:lstStyle/>
                    <a:p>
                      <a:pPr algn="l" indent="0" marL="0">
                        <a:buNone/>
                      </a:pPr>
                      <a:r>
                        <a:rPr lang="en-US" sz="1400" b="1" dirty="0">
                          <a:solidFill>
                            <a:srgbClr val="262525"/>
                          </a:solidFill>
                          <a:latin typeface="Geist" pitchFamily="34" charset="0"/>
                          <a:ea typeface="Geist" pitchFamily="34" charset="-122"/>
                          <a:cs typeface="Geist" pitchFamily="34" charset="-120"/>
                        </a:rPr>
                        <a:t>Brief item</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400" b="1" dirty="0">
                          <a:solidFill>
                            <a:srgbClr val="262525"/>
                          </a:solidFill>
                          <a:latin typeface="Geist" pitchFamily="34" charset="0"/>
                          <a:ea typeface="Geist" pitchFamily="34" charset="-122"/>
                          <a:cs typeface="Geist" pitchFamily="34" charset="-120"/>
                        </a:rPr>
                        <a:t>Slides</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c>
                  <a:txBody>
                    <a:bodyPr/>
                    <a:lstStyle/>
                    <a:p>
                      <a:pPr algn="l" indent="0" marL="0">
                        <a:buNone/>
                      </a:pPr>
                      <a:r>
                        <a:rPr lang="en-US" sz="1400" b="1" dirty="0">
                          <a:solidFill>
                            <a:srgbClr val="262525"/>
                          </a:solidFill>
                          <a:latin typeface="Geist" pitchFamily="34" charset="0"/>
                          <a:ea typeface="Geist" pitchFamily="34" charset="-122"/>
                          <a:cs typeface="Geist" pitchFamily="34" charset="-120"/>
                        </a:rPr>
                        <a:t>In the repo</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E5E5E5"/>
                      </a:solidFill>
                      <a:prstDash val="solid"/>
                      <a:round/>
                      <a:headEnd type="none" w="med" len="med"/>
                      <a:tailEnd type="none" w="med" len="med"/>
                    </a:lnB>
                  </a:tcPr>
                </a:tc>
              </a:tr>
              <a:tr h="496389">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1. Personalisation signals</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4</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src/routing.js</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96389">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2. Routing logic</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2, 3</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src/routing.js, output/rendered_contacts.csv</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96389">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3. Templates with variables</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5, A1</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templates.md, snippets.yaml</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96389">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4. 10 rendered examples</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6</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showcase.md</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96389">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Bonus: monitoring tool</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7</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docs/index.html</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r h="496389">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Video</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1</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c>
                  <a:txBody>
                    <a:bodyPr/>
                    <a:lstStyle/>
                    <a:p>
                      <a:pPr algn="l" indent="0" marL="0">
                        <a:buNone/>
                      </a:pPr>
                      <a:r>
                        <a:rPr lang="en-US" sz="1400" dirty="0">
                          <a:solidFill>
                            <a:srgbClr val="403D3D"/>
                          </a:solidFill>
                          <a:latin typeface="Geist" pitchFamily="34" charset="0"/>
                          <a:ea typeface="Geist" pitchFamily="34" charset="-122"/>
                          <a:cs typeface="Geist" pitchFamily="34" charset="-120"/>
                        </a:rPr>
                        <a:t>the link on slide 1</a:t>
                      </a:r>
                      <a:endParaRPr lang="en-US" sz="1400" dirty="0">
                        <a:latin typeface="Geist" charset="0"/>
                        <a:ea typeface="Geist" charset="0"/>
                        <a:cs typeface="Geist"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EDEDED"/>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Athena should email, what each email says, and why</dc:title>
  <dc:subject>PptxGenJS Presentation</dc:subject>
  <dc:creator>Bryan Soo</dc:creator>
  <cp:lastModifiedBy>Bryan Soo</cp:lastModifiedBy>
  <cp:revision>1</cp:revision>
  <dcterms:created xsi:type="dcterms:W3CDTF">2026-10-28T22:35:23Z</dcterms:created>
  <dcterms:modified xsi:type="dcterms:W3CDTF">2026-10-28T22:35:23Z</dcterms:modified>
</cp:coreProperties>
</file>